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2D4F4"/>
    <a:srgbClr val="A3B4D7"/>
    <a:srgbClr val="95A5CB"/>
    <a:srgbClr val="0E1228"/>
    <a:srgbClr val="21295C"/>
    <a:srgbClr val="5617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D53DE1-613E-49E1-965E-1FA1CF48C049}" v="3" dt="2026-08-15T00:07:30.0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ndu Erandaka" userId="5d921b98c7b0e6b3" providerId="LiveId" clId="{90D53DE1-613E-49E1-965E-1FA1CF48C049}"/>
    <pc:docChg chg="undo custSel modSld">
      <pc:chgData name="Harindu Erandaka" userId="5d921b98c7b0e6b3" providerId="LiveId" clId="{90D53DE1-613E-49E1-965E-1FA1CF48C049}" dt="2026-08-15T00:08:28.020" v="41" actId="1076"/>
      <pc:docMkLst>
        <pc:docMk/>
      </pc:docMkLst>
      <pc:sldChg chg="modSp mod">
        <pc:chgData name="Harindu Erandaka" userId="5d921b98c7b0e6b3" providerId="LiveId" clId="{90D53DE1-613E-49E1-965E-1FA1CF48C049}" dt="2026-08-14T22:49:30.734" v="1" actId="20577"/>
        <pc:sldMkLst>
          <pc:docMk/>
          <pc:sldMk cId="0" sldId="257"/>
        </pc:sldMkLst>
        <pc:spChg chg="mod">
          <ac:chgData name="Harindu Erandaka" userId="5d921b98c7b0e6b3" providerId="LiveId" clId="{90D53DE1-613E-49E1-965E-1FA1CF48C049}" dt="2026-08-14T22:49:30.734" v="1" actId="20577"/>
          <ac:spMkLst>
            <pc:docMk/>
            <pc:sldMk cId="0" sldId="257"/>
            <ac:spMk id="7" creationId="{00000000-0000-0000-0000-000000000000}"/>
          </ac:spMkLst>
        </pc:spChg>
      </pc:sldChg>
      <pc:sldChg chg="modSp mod">
        <pc:chgData name="Harindu Erandaka" userId="5d921b98c7b0e6b3" providerId="LiveId" clId="{90D53DE1-613E-49E1-965E-1FA1CF48C049}" dt="2026-08-14T22:51:26.640" v="7" actId="20577"/>
        <pc:sldMkLst>
          <pc:docMk/>
          <pc:sldMk cId="0" sldId="258"/>
        </pc:sldMkLst>
        <pc:spChg chg="mod">
          <ac:chgData name="Harindu Erandaka" userId="5d921b98c7b0e6b3" providerId="LiveId" clId="{90D53DE1-613E-49E1-965E-1FA1CF48C049}" dt="2026-08-14T22:51:26.640" v="7" actId="20577"/>
          <ac:spMkLst>
            <pc:docMk/>
            <pc:sldMk cId="0" sldId="258"/>
            <ac:spMk id="24" creationId="{AFF37FC4-B986-125B-CBED-B159754102FF}"/>
          </ac:spMkLst>
        </pc:spChg>
      </pc:sldChg>
      <pc:sldChg chg="modSp mod">
        <pc:chgData name="Harindu Erandaka" userId="5d921b98c7b0e6b3" providerId="LiveId" clId="{90D53DE1-613E-49E1-965E-1FA1CF48C049}" dt="2026-08-14T22:50:15.538" v="5" actId="20577"/>
        <pc:sldMkLst>
          <pc:docMk/>
          <pc:sldMk cId="0" sldId="261"/>
        </pc:sldMkLst>
        <pc:spChg chg="mod">
          <ac:chgData name="Harindu Erandaka" userId="5d921b98c7b0e6b3" providerId="LiveId" clId="{90D53DE1-613E-49E1-965E-1FA1CF48C049}" dt="2026-08-14T22:50:15.538" v="5" actId="20577"/>
          <ac:spMkLst>
            <pc:docMk/>
            <pc:sldMk cId="0" sldId="261"/>
            <ac:spMk id="27" creationId="{3CC0A651-22DA-8094-FD64-EBE176635F32}"/>
          </ac:spMkLst>
        </pc:spChg>
      </pc:sldChg>
      <pc:sldChg chg="modSp mod">
        <pc:chgData name="Harindu Erandaka" userId="5d921b98c7b0e6b3" providerId="LiveId" clId="{90D53DE1-613E-49E1-965E-1FA1CF48C049}" dt="2026-08-14T22:52:27.559" v="9" actId="20577"/>
        <pc:sldMkLst>
          <pc:docMk/>
          <pc:sldMk cId="0" sldId="262"/>
        </pc:sldMkLst>
        <pc:spChg chg="mod">
          <ac:chgData name="Harindu Erandaka" userId="5d921b98c7b0e6b3" providerId="LiveId" clId="{90D53DE1-613E-49E1-965E-1FA1CF48C049}" dt="2026-08-14T22:52:27.559" v="9" actId="20577"/>
          <ac:spMkLst>
            <pc:docMk/>
            <pc:sldMk cId="0" sldId="262"/>
            <ac:spMk id="27" creationId="{24158C80-4FA6-93ED-48F0-2FF8CF5C2C91}"/>
          </ac:spMkLst>
        </pc:spChg>
      </pc:sldChg>
      <pc:sldChg chg="addSp modSp mod">
        <pc:chgData name="Harindu Erandaka" userId="5d921b98c7b0e6b3" providerId="LiveId" clId="{90D53DE1-613E-49E1-965E-1FA1CF48C049}" dt="2026-08-15T00:08:28.020" v="41" actId="1076"/>
        <pc:sldMkLst>
          <pc:docMk/>
          <pc:sldMk cId="0" sldId="263"/>
        </pc:sldMkLst>
        <pc:spChg chg="mod">
          <ac:chgData name="Harindu Erandaka" userId="5d921b98c7b0e6b3" providerId="LiveId" clId="{90D53DE1-613E-49E1-965E-1FA1CF48C049}" dt="2026-08-15T00:02:35.082" v="26" actId="14100"/>
          <ac:spMkLst>
            <pc:docMk/>
            <pc:sldMk cId="0" sldId="263"/>
            <ac:spMk id="11" creationId="{00000000-0000-0000-0000-000000000000}"/>
          </ac:spMkLst>
        </pc:spChg>
        <pc:spChg chg="mod">
          <ac:chgData name="Harindu Erandaka" userId="5d921b98c7b0e6b3" providerId="LiveId" clId="{90D53DE1-613E-49E1-965E-1FA1CF48C049}" dt="2026-08-14T22:52:44.989" v="23" actId="20577"/>
          <ac:spMkLst>
            <pc:docMk/>
            <pc:sldMk cId="0" sldId="263"/>
            <ac:spMk id="27" creationId="{FC7ABF3A-34A3-F3CF-9137-86FFE9132CFE}"/>
          </ac:spMkLst>
        </pc:spChg>
        <pc:picChg chg="add mod">
          <ac:chgData name="Harindu Erandaka" userId="5d921b98c7b0e6b3" providerId="LiveId" clId="{90D53DE1-613E-49E1-965E-1FA1CF48C049}" dt="2026-08-15T00:08:28.020" v="41" actId="1076"/>
          <ac:picMkLst>
            <pc:docMk/>
            <pc:sldMk cId="0" sldId="263"/>
            <ac:picMk id="7" creationId="{2B3E4BFE-653C-E188-6C07-FACE11E7C608}"/>
          </ac:picMkLst>
        </pc:picChg>
        <pc:picChg chg="add mod">
          <ac:chgData name="Harindu Erandaka" userId="5d921b98c7b0e6b3" providerId="LiveId" clId="{90D53DE1-613E-49E1-965E-1FA1CF48C049}" dt="2026-08-15T00:03:18.307" v="33" actId="931"/>
          <ac:picMkLst>
            <pc:docMk/>
            <pc:sldMk cId="0" sldId="263"/>
            <ac:picMk id="7" creationId="{F11CDBBC-A2E9-07CE-EF76-012C44F8602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5913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E1228"/>
          </a:solidFill>
          <a:ln/>
        </p:spPr>
        <p:txBody>
          <a:bodyPr/>
          <a:lstStyle/>
          <a:p>
            <a:endParaRPr lang="en-US" dirty="0"/>
          </a:p>
        </p:txBody>
      </p:sp>
      <p:sp>
        <p:nvSpPr>
          <p:cNvPr id="3" name="Shape 1"/>
          <p:cNvSpPr/>
          <p:nvPr/>
        </p:nvSpPr>
        <p:spPr>
          <a:xfrm>
            <a:off x="0" y="0"/>
            <a:ext cx="12188952" cy="2011680"/>
          </a:xfrm>
          <a:prstGeom prst="rect">
            <a:avLst/>
          </a:prstGeom>
          <a:solidFill>
            <a:srgbClr val="065A82"/>
          </a:solidFill>
          <a:ln/>
        </p:spPr>
        <p:txBody>
          <a:bodyPr/>
          <a:lstStyle/>
          <a:p>
            <a:endParaRPr lang="en-US" dirty="0"/>
          </a:p>
        </p:txBody>
      </p:sp>
      <p:sp>
        <p:nvSpPr>
          <p:cNvPr id="6" name="Text 4"/>
          <p:cNvSpPr/>
          <p:nvPr/>
        </p:nvSpPr>
        <p:spPr>
          <a:xfrm>
            <a:off x="822960" y="457200"/>
            <a:ext cx="10515600" cy="365760"/>
          </a:xfrm>
          <a:prstGeom prst="rect">
            <a:avLst/>
          </a:prstGeom>
          <a:noFill/>
          <a:ln/>
        </p:spPr>
        <p:txBody>
          <a:bodyPr wrap="square" rtlCol="0" anchor="ctr"/>
          <a:lstStyle/>
          <a:p>
            <a:pPr marL="0" indent="0" algn="ctr">
              <a:buNone/>
            </a:pPr>
            <a:r>
              <a:rPr lang="en-US" sz="2400" b="1" kern="0" spc="200" dirty="0">
                <a:solidFill>
                  <a:srgbClr val="CADCFC"/>
                </a:solidFill>
                <a:latin typeface="Cambria" panose="02040503050406030204" pitchFamily="18" charset="0"/>
                <a:ea typeface="Cambria" panose="02040503050406030204" pitchFamily="18" charset="0"/>
                <a:cs typeface="Calibri" pitchFamily="34" charset="-120"/>
              </a:rPr>
              <a:t>HUMAN COMPUTER INTERACTION — TICT 2153 (T)</a:t>
            </a:r>
            <a:endParaRPr lang="en-US" sz="2400" dirty="0">
              <a:latin typeface="Cambria" panose="02040503050406030204" pitchFamily="18" charset="0"/>
              <a:ea typeface="Cambria" panose="02040503050406030204" pitchFamily="18" charset="0"/>
            </a:endParaRPr>
          </a:p>
        </p:txBody>
      </p:sp>
      <p:sp>
        <p:nvSpPr>
          <p:cNvPr id="7" name="Text 5"/>
          <p:cNvSpPr/>
          <p:nvPr/>
        </p:nvSpPr>
        <p:spPr>
          <a:xfrm>
            <a:off x="822960" y="827116"/>
            <a:ext cx="10515600" cy="548640"/>
          </a:xfrm>
          <a:prstGeom prst="rect">
            <a:avLst/>
          </a:prstGeom>
          <a:noFill/>
          <a:ln/>
        </p:spPr>
        <p:txBody>
          <a:bodyPr wrap="square" rtlCol="0" anchor="ctr"/>
          <a:lstStyle/>
          <a:p>
            <a:pPr marL="0" indent="0" algn="ctr">
              <a:buNone/>
            </a:pPr>
            <a:r>
              <a:rPr lang="en-US" sz="2000" dirty="0">
                <a:solidFill>
                  <a:srgbClr val="FFFFFF"/>
                </a:solidFill>
                <a:latin typeface="Cambria" panose="02040503050406030204" pitchFamily="18" charset="0"/>
                <a:ea typeface="Cambria" panose="02040503050406030204" pitchFamily="18" charset="0"/>
                <a:cs typeface="Calibri" pitchFamily="34" charset="-120"/>
              </a:rPr>
              <a:t>Mini Group Project - Final Presentation</a:t>
            </a:r>
            <a:endParaRPr lang="en-US" sz="2000" dirty="0">
              <a:latin typeface="Cambria" panose="02040503050406030204" pitchFamily="18" charset="0"/>
              <a:ea typeface="Cambria" panose="02040503050406030204" pitchFamily="18" charset="0"/>
            </a:endParaRPr>
          </a:p>
        </p:txBody>
      </p:sp>
      <p:sp>
        <p:nvSpPr>
          <p:cNvPr id="8" name="Text 6"/>
          <p:cNvSpPr/>
          <p:nvPr/>
        </p:nvSpPr>
        <p:spPr>
          <a:xfrm>
            <a:off x="822960" y="2316038"/>
            <a:ext cx="10515600" cy="1005840"/>
          </a:xfrm>
          <a:prstGeom prst="rect">
            <a:avLst/>
          </a:prstGeom>
          <a:noFill/>
          <a:ln/>
        </p:spPr>
        <p:txBody>
          <a:bodyPr wrap="square" rtlCol="0" anchor="ctr"/>
          <a:lstStyle/>
          <a:p>
            <a:pPr marL="0" indent="0" algn="ctr">
              <a:buNone/>
            </a:pPr>
            <a:r>
              <a:rPr lang="en-US" sz="4200" b="1" dirty="0">
                <a:solidFill>
                  <a:srgbClr val="FFFFFF"/>
                </a:solidFill>
                <a:latin typeface="Cambria" pitchFamily="34" charset="0"/>
                <a:ea typeface="Cambria" pitchFamily="34" charset="-122"/>
                <a:cs typeface="Cambria" pitchFamily="34" charset="-120"/>
              </a:rPr>
              <a:t>Ergonomic Posture Monitor for Computer Users</a:t>
            </a:r>
            <a:endParaRPr lang="en-US" sz="4200" dirty="0"/>
          </a:p>
        </p:txBody>
      </p:sp>
      <p:sp>
        <p:nvSpPr>
          <p:cNvPr id="9" name="Text 7"/>
          <p:cNvSpPr/>
          <p:nvPr/>
        </p:nvSpPr>
        <p:spPr>
          <a:xfrm>
            <a:off x="822960" y="3440546"/>
            <a:ext cx="10515600" cy="457200"/>
          </a:xfrm>
          <a:prstGeom prst="rect">
            <a:avLst/>
          </a:prstGeom>
          <a:noFill/>
          <a:ln/>
        </p:spPr>
        <p:txBody>
          <a:bodyPr wrap="square" rtlCol="0" anchor="ctr"/>
          <a:lstStyle/>
          <a:p>
            <a:pPr marL="0" indent="0" algn="ctr">
              <a:buNone/>
            </a:pPr>
            <a:r>
              <a:rPr lang="en-US" sz="1600" i="1" dirty="0">
                <a:solidFill>
                  <a:srgbClr val="CADCFC"/>
                </a:solidFill>
                <a:latin typeface="Calibri" pitchFamily="34" charset="0"/>
                <a:ea typeface="Calibri" pitchFamily="34" charset="-122"/>
                <a:cs typeface="Calibri" pitchFamily="34" charset="-120"/>
              </a:rPr>
              <a:t>A physical Desk Companion that Monitors Posture and Provides Progressive visual and Audio Feedback.</a:t>
            </a:r>
            <a:endParaRPr lang="en-US" sz="1600" dirty="0"/>
          </a:p>
        </p:txBody>
      </p:sp>
      <p:sp>
        <p:nvSpPr>
          <p:cNvPr id="10" name="Shape 8"/>
          <p:cNvSpPr/>
          <p:nvPr/>
        </p:nvSpPr>
        <p:spPr>
          <a:xfrm>
            <a:off x="822960" y="4492106"/>
            <a:ext cx="10515600" cy="1737360"/>
          </a:xfrm>
          <a:prstGeom prst="roundRect">
            <a:avLst>
              <a:gd name="adj" fmla="val 4211"/>
            </a:avLst>
          </a:prstGeom>
          <a:solidFill>
            <a:srgbClr val="FFFFFF"/>
          </a:solidFill>
          <a:ln/>
        </p:spPr>
        <p:txBody>
          <a:bodyPr/>
          <a:lstStyle/>
          <a:p>
            <a:endParaRPr lang="en-US"/>
          </a:p>
        </p:txBody>
      </p:sp>
      <p:sp>
        <p:nvSpPr>
          <p:cNvPr id="11" name="Text 9"/>
          <p:cNvSpPr/>
          <p:nvPr/>
        </p:nvSpPr>
        <p:spPr>
          <a:xfrm>
            <a:off x="1162858" y="4903586"/>
            <a:ext cx="2263140" cy="274320"/>
          </a:xfrm>
          <a:prstGeom prst="rect">
            <a:avLst/>
          </a:prstGeom>
          <a:noFill/>
          <a:ln/>
        </p:spPr>
        <p:txBody>
          <a:bodyPr wrap="square" rtlCol="0" anchor="ctr"/>
          <a:lstStyle/>
          <a:p>
            <a:pPr marL="0" indent="0" algn="ctr">
              <a:buNone/>
            </a:pPr>
            <a:r>
              <a:rPr lang="en-US" sz="1600" b="1" kern="0" spc="100" dirty="0">
                <a:solidFill>
                  <a:srgbClr val="1C7293"/>
                </a:solidFill>
                <a:latin typeface="Calibri" pitchFamily="34" charset="0"/>
                <a:ea typeface="Calibri" pitchFamily="34" charset="-122"/>
                <a:cs typeface="Calibri" pitchFamily="34" charset="-120"/>
              </a:rPr>
              <a:t>GROUP NUMBER</a:t>
            </a:r>
            <a:endParaRPr lang="en-US" sz="1600" dirty="0"/>
          </a:p>
        </p:txBody>
      </p:sp>
      <p:sp>
        <p:nvSpPr>
          <p:cNvPr id="12" name="Text 10"/>
          <p:cNvSpPr/>
          <p:nvPr/>
        </p:nvSpPr>
        <p:spPr>
          <a:xfrm>
            <a:off x="1162858" y="5177906"/>
            <a:ext cx="2263140" cy="457200"/>
          </a:xfrm>
          <a:prstGeom prst="rect">
            <a:avLst/>
          </a:prstGeom>
          <a:noFill/>
          <a:ln/>
        </p:spPr>
        <p:txBody>
          <a:bodyPr wrap="square" rtlCol="0" anchor="ctr"/>
          <a:lstStyle/>
          <a:p>
            <a:pPr marL="0" indent="0" algn="ctr">
              <a:buNone/>
            </a:pPr>
            <a:r>
              <a:rPr lang="en-US" sz="1600" dirty="0">
                <a:solidFill>
                  <a:srgbClr val="1B1F24"/>
                </a:solidFill>
                <a:latin typeface="Calibri" pitchFamily="34" charset="0"/>
                <a:ea typeface="Calibri" pitchFamily="34" charset="-122"/>
                <a:cs typeface="Calibri" pitchFamily="34" charset="-120"/>
              </a:rPr>
              <a:t>Group No.05</a:t>
            </a:r>
            <a:endParaRPr lang="en-US" sz="1600" dirty="0"/>
          </a:p>
        </p:txBody>
      </p:sp>
      <p:sp>
        <p:nvSpPr>
          <p:cNvPr id="15" name="Shape 13"/>
          <p:cNvSpPr/>
          <p:nvPr/>
        </p:nvSpPr>
        <p:spPr>
          <a:xfrm>
            <a:off x="3858260" y="4674986"/>
            <a:ext cx="0" cy="1280160"/>
          </a:xfrm>
          <a:prstGeom prst="line">
            <a:avLst/>
          </a:prstGeom>
          <a:noFill/>
          <a:ln w="12700">
            <a:solidFill>
              <a:srgbClr val="E1E7EB"/>
            </a:solidFill>
            <a:prstDash val="solid"/>
          </a:ln>
        </p:spPr>
        <p:txBody>
          <a:bodyPr/>
          <a:lstStyle/>
          <a:p>
            <a:endParaRPr lang="en-US"/>
          </a:p>
        </p:txBody>
      </p:sp>
      <p:sp>
        <p:nvSpPr>
          <p:cNvPr id="16" name="Text 14"/>
          <p:cNvSpPr/>
          <p:nvPr/>
        </p:nvSpPr>
        <p:spPr>
          <a:xfrm>
            <a:off x="4964430" y="4903586"/>
            <a:ext cx="2263140" cy="274320"/>
          </a:xfrm>
          <a:prstGeom prst="rect">
            <a:avLst/>
          </a:prstGeom>
          <a:noFill/>
          <a:ln/>
        </p:spPr>
        <p:txBody>
          <a:bodyPr wrap="square" rtlCol="0" anchor="ctr"/>
          <a:lstStyle/>
          <a:p>
            <a:pPr marL="0" indent="0" algn="ctr">
              <a:buNone/>
            </a:pPr>
            <a:r>
              <a:rPr lang="en-US" sz="1600" b="1" kern="0" spc="100" dirty="0">
                <a:solidFill>
                  <a:srgbClr val="1C7293"/>
                </a:solidFill>
                <a:latin typeface="Calibri" pitchFamily="34" charset="0"/>
                <a:ea typeface="Calibri" pitchFamily="34" charset="-122"/>
                <a:cs typeface="Calibri" pitchFamily="34" charset="-120"/>
              </a:rPr>
              <a:t>PROJECT LEADER</a:t>
            </a:r>
            <a:endParaRPr lang="en-US" sz="1600" dirty="0"/>
          </a:p>
        </p:txBody>
      </p:sp>
      <p:sp>
        <p:nvSpPr>
          <p:cNvPr id="17" name="Text 15"/>
          <p:cNvSpPr/>
          <p:nvPr/>
        </p:nvSpPr>
        <p:spPr>
          <a:xfrm>
            <a:off x="4913691" y="5177906"/>
            <a:ext cx="2364619" cy="457200"/>
          </a:xfrm>
          <a:prstGeom prst="rect">
            <a:avLst/>
          </a:prstGeom>
          <a:noFill/>
          <a:ln/>
        </p:spPr>
        <p:txBody>
          <a:bodyPr wrap="square" rtlCol="0" anchor="ctr"/>
          <a:lstStyle/>
          <a:p>
            <a:pPr marL="0" indent="0" algn="ctr">
              <a:buNone/>
            </a:pPr>
            <a:r>
              <a:rPr lang="en-US" sz="1600" dirty="0">
                <a:solidFill>
                  <a:srgbClr val="1B1F24"/>
                </a:solidFill>
                <a:latin typeface="Calibri" pitchFamily="34" charset="0"/>
                <a:ea typeface="Calibri" pitchFamily="34" charset="-122"/>
                <a:cs typeface="Calibri" pitchFamily="34" charset="-120"/>
              </a:rPr>
              <a:t>2023/ICTS/39</a:t>
            </a:r>
            <a:endParaRPr lang="en-US" sz="1600" dirty="0"/>
          </a:p>
        </p:txBody>
      </p:sp>
      <p:sp>
        <p:nvSpPr>
          <p:cNvPr id="19" name="Text 17"/>
          <p:cNvSpPr/>
          <p:nvPr/>
        </p:nvSpPr>
        <p:spPr>
          <a:xfrm>
            <a:off x="8643158" y="4903586"/>
            <a:ext cx="2263140" cy="274320"/>
          </a:xfrm>
          <a:prstGeom prst="rect">
            <a:avLst/>
          </a:prstGeom>
          <a:noFill/>
          <a:ln/>
        </p:spPr>
        <p:txBody>
          <a:bodyPr wrap="square" rtlCol="0" anchor="ctr"/>
          <a:lstStyle/>
          <a:p>
            <a:pPr marL="0" indent="0" algn="ctr">
              <a:buNone/>
            </a:pPr>
            <a:r>
              <a:rPr lang="en-US" sz="1600" b="1" kern="0" spc="100" dirty="0">
                <a:solidFill>
                  <a:srgbClr val="1C7293"/>
                </a:solidFill>
                <a:latin typeface="Calibri" pitchFamily="34" charset="0"/>
                <a:ea typeface="Calibri" pitchFamily="34" charset="-122"/>
                <a:cs typeface="Calibri" pitchFamily="34" charset="-120"/>
              </a:rPr>
              <a:t>PRESENTATION DATE</a:t>
            </a:r>
            <a:endParaRPr lang="en-US" sz="1600" dirty="0"/>
          </a:p>
        </p:txBody>
      </p:sp>
      <p:sp>
        <p:nvSpPr>
          <p:cNvPr id="20" name="Text 18"/>
          <p:cNvSpPr/>
          <p:nvPr/>
        </p:nvSpPr>
        <p:spPr>
          <a:xfrm>
            <a:off x="8643158" y="5177906"/>
            <a:ext cx="2263140" cy="457200"/>
          </a:xfrm>
          <a:prstGeom prst="rect">
            <a:avLst/>
          </a:prstGeom>
          <a:noFill/>
          <a:ln/>
        </p:spPr>
        <p:txBody>
          <a:bodyPr wrap="square" rtlCol="0" anchor="ctr"/>
          <a:lstStyle/>
          <a:p>
            <a:pPr marL="0" indent="0" algn="ctr">
              <a:buNone/>
            </a:pPr>
            <a:r>
              <a:rPr lang="en-US" sz="1600" dirty="0">
                <a:solidFill>
                  <a:srgbClr val="1B1F24"/>
                </a:solidFill>
                <a:latin typeface="Calibri" pitchFamily="34" charset="0"/>
                <a:ea typeface="Calibri" pitchFamily="34" charset="-122"/>
                <a:cs typeface="Calibri" pitchFamily="34" charset="-120"/>
              </a:rPr>
              <a:t>15/August/2026</a:t>
            </a:r>
            <a:endParaRPr lang="en-US" sz="1600" dirty="0"/>
          </a:p>
        </p:txBody>
      </p:sp>
      <p:sp>
        <p:nvSpPr>
          <p:cNvPr id="21" name="Shape 19"/>
          <p:cNvSpPr/>
          <p:nvPr/>
        </p:nvSpPr>
        <p:spPr>
          <a:xfrm>
            <a:off x="8210896" y="4674986"/>
            <a:ext cx="0" cy="1280160"/>
          </a:xfrm>
          <a:prstGeom prst="line">
            <a:avLst/>
          </a:prstGeom>
          <a:noFill/>
          <a:ln w="12700">
            <a:solidFill>
              <a:srgbClr val="E1E7EB"/>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65A82"/>
          </a:solidFill>
          <a:ln/>
        </p:spPr>
        <p:txBody>
          <a:bodyPr/>
          <a:lstStyle/>
          <a:p>
            <a:endParaRPr lang="en-US"/>
          </a:p>
        </p:txBody>
      </p:sp>
      <p:sp>
        <p:nvSpPr>
          <p:cNvPr id="3" name="Text 1"/>
          <p:cNvSpPr/>
          <p:nvPr/>
        </p:nvSpPr>
        <p:spPr>
          <a:xfrm>
            <a:off x="548640" y="502920"/>
            <a:ext cx="457200" cy="45720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I</a:t>
            </a:r>
            <a:endParaRPr lang="en-US" sz="2000" dirty="0"/>
          </a:p>
        </p:txBody>
      </p:sp>
      <p:sp>
        <p:nvSpPr>
          <p:cNvPr id="4" name="Text 2"/>
          <p:cNvSpPr/>
          <p:nvPr/>
        </p:nvSpPr>
        <p:spPr>
          <a:xfrm>
            <a:off x="1188720" y="411480"/>
            <a:ext cx="7772400" cy="548640"/>
          </a:xfrm>
          <a:prstGeom prst="rect">
            <a:avLst/>
          </a:prstGeom>
          <a:noFill/>
          <a:ln/>
        </p:spPr>
        <p:txBody>
          <a:bodyPr wrap="square" rtlCol="0" anchor="ctr"/>
          <a:lstStyle/>
          <a:p>
            <a:pPr marL="0" indent="0">
              <a:buNone/>
            </a:pPr>
            <a:r>
              <a:rPr lang="en-US" sz="3000" b="1" dirty="0">
                <a:solidFill>
                  <a:srgbClr val="0E1228"/>
                </a:solidFill>
                <a:latin typeface="Cambria" pitchFamily="34" charset="0"/>
                <a:ea typeface="Cambria" pitchFamily="34" charset="-122"/>
                <a:cs typeface="Cambria" pitchFamily="34" charset="-120"/>
              </a:rPr>
              <a:t>Introduction</a:t>
            </a:r>
            <a:endParaRPr lang="en-US" sz="3000" dirty="0">
              <a:solidFill>
                <a:srgbClr val="0E1228"/>
              </a:solidFill>
            </a:endParaRPr>
          </a:p>
        </p:txBody>
      </p:sp>
      <p:sp>
        <p:nvSpPr>
          <p:cNvPr id="5" name="Text 3"/>
          <p:cNvSpPr/>
          <p:nvPr/>
        </p:nvSpPr>
        <p:spPr>
          <a:xfrm>
            <a:off x="1188720" y="914400"/>
            <a:ext cx="7772400" cy="320040"/>
          </a:xfrm>
          <a:prstGeom prst="rect">
            <a:avLst/>
          </a:prstGeom>
          <a:noFill/>
          <a:ln/>
        </p:spPr>
        <p:txBody>
          <a:bodyPr wrap="square"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Who we are and what we set out to build</a:t>
            </a:r>
            <a:endParaRPr lang="en-US" sz="1400" dirty="0"/>
          </a:p>
        </p:txBody>
      </p:sp>
      <p:sp>
        <p:nvSpPr>
          <p:cNvPr id="6" name="Shape 4"/>
          <p:cNvSpPr/>
          <p:nvPr/>
        </p:nvSpPr>
        <p:spPr>
          <a:xfrm>
            <a:off x="8805672" y="502920"/>
            <a:ext cx="2834640" cy="384048"/>
          </a:xfrm>
          <a:prstGeom prst="roundRect">
            <a:avLst>
              <a:gd name="adj" fmla="val 19048"/>
            </a:avLst>
          </a:prstGeom>
          <a:solidFill>
            <a:srgbClr val="F4F7F9"/>
          </a:solidFill>
          <a:ln w="12700">
            <a:solidFill>
              <a:srgbClr val="E1E7EB"/>
            </a:solidFill>
            <a:prstDash val="solid"/>
          </a:ln>
        </p:spPr>
        <p:txBody>
          <a:bodyPr/>
          <a:lstStyle/>
          <a:p>
            <a:endParaRPr lang="en-US" dirty="0"/>
          </a:p>
        </p:txBody>
      </p:sp>
      <p:sp>
        <p:nvSpPr>
          <p:cNvPr id="7" name="Text 5"/>
          <p:cNvSpPr/>
          <p:nvPr/>
        </p:nvSpPr>
        <p:spPr>
          <a:xfrm>
            <a:off x="8942832" y="502920"/>
            <a:ext cx="2606040" cy="384048"/>
          </a:xfrm>
          <a:prstGeom prst="rect">
            <a:avLst/>
          </a:prstGeom>
          <a:noFill/>
          <a:ln/>
        </p:spPr>
        <p:txBody>
          <a:bodyPr wrap="square" rtlCol="0" anchor="ctr"/>
          <a:lstStyle/>
          <a:p>
            <a:pPr marL="0" indent="0">
              <a:buNone/>
            </a:pPr>
            <a:r>
              <a:rPr lang="en-US" sz="1100" b="1" dirty="0">
                <a:solidFill>
                  <a:srgbClr val="21295C"/>
                </a:solidFill>
                <a:latin typeface="Calibri" pitchFamily="34" charset="0"/>
                <a:ea typeface="Calibri" pitchFamily="34" charset="-122"/>
                <a:cs typeface="Calibri" pitchFamily="34" charset="-120"/>
              </a:rPr>
              <a:t>Presented by:  </a:t>
            </a:r>
            <a:r>
              <a:rPr lang="en-US" sz="1100" i="1" dirty="0">
                <a:solidFill>
                  <a:srgbClr val="5B6570"/>
                </a:solidFill>
                <a:latin typeface="Calibri" pitchFamily="34" charset="0"/>
                <a:ea typeface="Calibri" pitchFamily="34" charset="-122"/>
                <a:cs typeface="Calibri" pitchFamily="34" charset="-120"/>
              </a:rPr>
              <a:t>2023/ICTS/43</a:t>
            </a:r>
            <a:endParaRPr lang="en-US" sz="1100" dirty="0"/>
          </a:p>
        </p:txBody>
      </p:sp>
      <p:sp>
        <p:nvSpPr>
          <p:cNvPr id="8" name="Shape 6"/>
          <p:cNvSpPr/>
          <p:nvPr/>
        </p:nvSpPr>
        <p:spPr>
          <a:xfrm>
            <a:off x="548640" y="1417320"/>
            <a:ext cx="11091672" cy="0"/>
          </a:xfrm>
          <a:prstGeom prst="line">
            <a:avLst/>
          </a:prstGeom>
          <a:noFill/>
          <a:ln w="12700">
            <a:solidFill>
              <a:srgbClr val="E1E7EB"/>
            </a:solidFill>
            <a:prstDash val="solid"/>
          </a:ln>
        </p:spPr>
        <p:txBody>
          <a:bodyPr/>
          <a:lstStyle/>
          <a:p>
            <a:endParaRPr lang="en-US"/>
          </a:p>
        </p:txBody>
      </p:sp>
      <p:sp>
        <p:nvSpPr>
          <p:cNvPr id="9" name="Text 7"/>
          <p:cNvSpPr/>
          <p:nvPr/>
        </p:nvSpPr>
        <p:spPr>
          <a:xfrm>
            <a:off x="548640" y="1598330"/>
            <a:ext cx="4846320" cy="365760"/>
          </a:xfrm>
          <a:prstGeom prst="rect">
            <a:avLst/>
          </a:prstGeom>
          <a:noFill/>
          <a:ln/>
        </p:spPr>
        <p:txBody>
          <a:bodyPr wrap="square" rtlCol="0" anchor="ctr"/>
          <a:lstStyle/>
          <a:p>
            <a:pPr marL="0" indent="0">
              <a:buNone/>
            </a:pPr>
            <a:r>
              <a:rPr lang="en-US" b="1" dirty="0">
                <a:solidFill>
                  <a:srgbClr val="21295C"/>
                </a:solidFill>
                <a:latin typeface="Cambria" pitchFamily="34" charset="0"/>
                <a:ea typeface="Cambria" pitchFamily="34" charset="-122"/>
                <a:cs typeface="Cambria" pitchFamily="34" charset="-120"/>
              </a:rPr>
              <a:t>About the Team</a:t>
            </a:r>
            <a:endParaRPr lang="en-US" dirty="0"/>
          </a:p>
        </p:txBody>
      </p:sp>
      <p:sp>
        <p:nvSpPr>
          <p:cNvPr id="10" name="Text 8"/>
          <p:cNvSpPr/>
          <p:nvPr/>
        </p:nvSpPr>
        <p:spPr>
          <a:xfrm>
            <a:off x="548640" y="1954011"/>
            <a:ext cx="4846320" cy="2249424"/>
          </a:xfrm>
          <a:prstGeom prst="rect">
            <a:avLst/>
          </a:prstGeom>
          <a:noFill/>
          <a:ln/>
        </p:spPr>
        <p:txBody>
          <a:bodyPr wrap="square" rtlCol="0" anchor="ctr"/>
          <a:lstStyle/>
          <a:p>
            <a:pPr marL="0" indent="0">
              <a:lnSpc>
                <a:spcPct val="125000"/>
              </a:lnSpc>
              <a:buNone/>
            </a:pPr>
            <a:r>
              <a:rPr lang="en-US" sz="1500" b="1" dirty="0">
                <a:solidFill>
                  <a:srgbClr val="1C7293"/>
                </a:solidFill>
                <a:latin typeface="Calibri" pitchFamily="34" charset="0"/>
                <a:ea typeface="Calibri" pitchFamily="34" charset="-122"/>
                <a:cs typeface="Calibri" pitchFamily="34" charset="-120"/>
              </a:rPr>
              <a:t>• </a:t>
            </a:r>
            <a:r>
              <a:rPr lang="en-US" sz="1500" dirty="0">
                <a:solidFill>
                  <a:srgbClr val="1B1F24"/>
                </a:solidFill>
                <a:latin typeface="Calibri" pitchFamily="34" charset="0"/>
                <a:ea typeface="Calibri" pitchFamily="34" charset="-122"/>
                <a:cs typeface="Calibri" pitchFamily="34" charset="-120"/>
              </a:rPr>
              <a:t>We are Group 05.
</a:t>
            </a:r>
            <a:r>
              <a:rPr lang="en-US" sz="1500" b="1" dirty="0">
                <a:solidFill>
                  <a:srgbClr val="1C7293"/>
                </a:solidFill>
                <a:latin typeface="Calibri" pitchFamily="34" charset="0"/>
                <a:ea typeface="Calibri" pitchFamily="34" charset="-122"/>
                <a:cs typeface="Calibri" pitchFamily="34" charset="-120"/>
              </a:rPr>
              <a:t>• </a:t>
            </a:r>
            <a:r>
              <a:rPr lang="en-US" sz="1500" dirty="0">
                <a:solidFill>
                  <a:srgbClr val="1B1F24"/>
                </a:solidFill>
                <a:latin typeface="Calibri" pitchFamily="34" charset="0"/>
                <a:ea typeface="Calibri" pitchFamily="34" charset="-122"/>
                <a:cs typeface="Calibri" pitchFamily="34" charset="-120"/>
              </a:rPr>
              <a:t>Project Domain: Workplace Ergonomics and Healthy Computer use.
</a:t>
            </a:r>
            <a:r>
              <a:rPr lang="en-US" sz="1500" b="1" dirty="0">
                <a:solidFill>
                  <a:srgbClr val="1C7293"/>
                </a:solidFill>
                <a:latin typeface="Calibri" pitchFamily="34" charset="0"/>
                <a:ea typeface="Calibri" pitchFamily="34" charset="-122"/>
                <a:cs typeface="Calibri" pitchFamily="34" charset="-120"/>
              </a:rPr>
              <a:t>•</a:t>
            </a:r>
            <a:r>
              <a:rPr lang="en-US" sz="1500" dirty="0">
                <a:solidFill>
                  <a:srgbClr val="1B1F24"/>
                </a:solidFill>
                <a:latin typeface="Calibri" pitchFamily="34" charset="0"/>
                <a:ea typeface="Calibri" pitchFamily="34" charset="-122"/>
                <a:cs typeface="Calibri" pitchFamily="34" charset="-120"/>
              </a:rPr>
              <a:t> We chose this problem because prolonged computer use and poor posture can contribute to back, neck and spinal strain.</a:t>
            </a:r>
          </a:p>
          <a:p>
            <a:pPr marL="0" indent="0">
              <a:lnSpc>
                <a:spcPct val="125000"/>
              </a:lnSpc>
              <a:buNone/>
            </a:pPr>
            <a:r>
              <a:rPr lang="en-US" sz="1500" b="1" dirty="0">
                <a:solidFill>
                  <a:srgbClr val="1C7293"/>
                </a:solidFill>
                <a:latin typeface="Calibri" pitchFamily="34" charset="0"/>
                <a:ea typeface="Calibri" pitchFamily="34" charset="-122"/>
                <a:cs typeface="Calibri" pitchFamily="34" charset="-120"/>
              </a:rPr>
              <a:t>• </a:t>
            </a:r>
            <a:r>
              <a:rPr lang="en-US" sz="1500" dirty="0">
                <a:latin typeface="Calibri" pitchFamily="34" charset="0"/>
                <a:ea typeface="Calibri" pitchFamily="34" charset="-122"/>
                <a:cs typeface="Calibri" pitchFamily="34" charset="-120"/>
              </a:rPr>
              <a:t>And Our Goal is a non-intrusive physical reminder that works without desktop software or mobile notifications.</a:t>
            </a:r>
            <a:endParaRPr lang="en-US" sz="1500" dirty="0"/>
          </a:p>
        </p:txBody>
      </p:sp>
      <p:sp>
        <p:nvSpPr>
          <p:cNvPr id="11" name="Text 9"/>
          <p:cNvSpPr/>
          <p:nvPr/>
        </p:nvSpPr>
        <p:spPr>
          <a:xfrm>
            <a:off x="548640" y="4343400"/>
            <a:ext cx="4846320" cy="365760"/>
          </a:xfrm>
          <a:prstGeom prst="rect">
            <a:avLst/>
          </a:prstGeom>
          <a:noFill/>
          <a:ln/>
        </p:spPr>
        <p:txBody>
          <a:bodyPr wrap="square" rtlCol="0" anchor="ctr"/>
          <a:lstStyle/>
          <a:p>
            <a:pPr marL="0" indent="0">
              <a:buNone/>
            </a:pPr>
            <a:r>
              <a:rPr lang="en-US" b="1" dirty="0">
                <a:solidFill>
                  <a:srgbClr val="21295C"/>
                </a:solidFill>
                <a:latin typeface="Cambria" pitchFamily="34" charset="0"/>
                <a:ea typeface="Cambria" pitchFamily="34" charset="-122"/>
                <a:cs typeface="Cambria" pitchFamily="34" charset="-120"/>
              </a:rPr>
              <a:t>Agenda</a:t>
            </a:r>
            <a:endParaRPr lang="en-US" dirty="0"/>
          </a:p>
        </p:txBody>
      </p:sp>
      <p:sp>
        <p:nvSpPr>
          <p:cNvPr id="12" name="Shape 10"/>
          <p:cNvSpPr/>
          <p:nvPr/>
        </p:nvSpPr>
        <p:spPr>
          <a:xfrm>
            <a:off x="548640" y="4754880"/>
            <a:ext cx="201168" cy="201168"/>
          </a:xfrm>
          <a:prstGeom prst="ellipse">
            <a:avLst/>
          </a:prstGeom>
          <a:solidFill>
            <a:srgbClr val="1C7293"/>
          </a:solidFill>
          <a:ln/>
        </p:spPr>
        <p:txBody>
          <a:bodyPr/>
          <a:lstStyle/>
          <a:p>
            <a:endParaRPr lang="en-US"/>
          </a:p>
        </p:txBody>
      </p:sp>
      <p:sp>
        <p:nvSpPr>
          <p:cNvPr id="13" name="Text 11"/>
          <p:cNvSpPr/>
          <p:nvPr/>
        </p:nvSpPr>
        <p:spPr>
          <a:xfrm>
            <a:off x="868680" y="4700016"/>
            <a:ext cx="2103120" cy="310896"/>
          </a:xfrm>
          <a:prstGeom prst="rect">
            <a:avLst/>
          </a:prstGeom>
          <a:noFill/>
          <a:ln/>
        </p:spPr>
        <p:txBody>
          <a:bodyPr wrap="square" rtlCol="0" anchor="ctr"/>
          <a:lstStyle/>
          <a:p>
            <a:pPr marL="0" indent="0">
              <a:buNone/>
            </a:pPr>
            <a:r>
              <a:rPr lang="en-US" sz="1600" dirty="0">
                <a:solidFill>
                  <a:srgbClr val="1B1F24"/>
                </a:solidFill>
                <a:latin typeface="Calibri" pitchFamily="34" charset="0"/>
                <a:ea typeface="Calibri" pitchFamily="34" charset="-122"/>
                <a:cs typeface="Calibri" pitchFamily="34" charset="-120"/>
              </a:rPr>
              <a:t>Problem Statement</a:t>
            </a:r>
            <a:endParaRPr lang="en-US" sz="1600" dirty="0"/>
          </a:p>
        </p:txBody>
      </p:sp>
      <p:sp>
        <p:nvSpPr>
          <p:cNvPr id="14" name="Shape 12"/>
          <p:cNvSpPr/>
          <p:nvPr/>
        </p:nvSpPr>
        <p:spPr>
          <a:xfrm>
            <a:off x="3063240" y="4754880"/>
            <a:ext cx="201168" cy="201168"/>
          </a:xfrm>
          <a:prstGeom prst="ellipse">
            <a:avLst/>
          </a:prstGeom>
          <a:solidFill>
            <a:srgbClr val="1C7293"/>
          </a:solidFill>
          <a:ln/>
        </p:spPr>
        <p:txBody>
          <a:bodyPr/>
          <a:lstStyle/>
          <a:p>
            <a:endParaRPr lang="en-US"/>
          </a:p>
        </p:txBody>
      </p:sp>
      <p:sp>
        <p:nvSpPr>
          <p:cNvPr id="15" name="Text 13"/>
          <p:cNvSpPr/>
          <p:nvPr/>
        </p:nvSpPr>
        <p:spPr>
          <a:xfrm>
            <a:off x="3383280" y="4700016"/>
            <a:ext cx="2103120" cy="310896"/>
          </a:xfrm>
          <a:prstGeom prst="rect">
            <a:avLst/>
          </a:prstGeom>
          <a:noFill/>
          <a:ln/>
        </p:spPr>
        <p:txBody>
          <a:bodyPr wrap="square" rtlCol="0" anchor="ctr"/>
          <a:lstStyle/>
          <a:p>
            <a:pPr marL="0" indent="0">
              <a:buNone/>
            </a:pPr>
            <a:r>
              <a:rPr lang="en-US" sz="1600" dirty="0">
                <a:solidFill>
                  <a:srgbClr val="1B1F24"/>
                </a:solidFill>
                <a:latin typeface="Calibri" pitchFamily="34" charset="0"/>
                <a:ea typeface="Calibri" pitchFamily="34" charset="-122"/>
                <a:cs typeface="Calibri" pitchFamily="34" charset="-120"/>
              </a:rPr>
              <a:t>Empathise</a:t>
            </a:r>
            <a:endParaRPr lang="en-US" sz="1600" dirty="0"/>
          </a:p>
        </p:txBody>
      </p:sp>
      <p:sp>
        <p:nvSpPr>
          <p:cNvPr id="16" name="Shape 14"/>
          <p:cNvSpPr/>
          <p:nvPr/>
        </p:nvSpPr>
        <p:spPr>
          <a:xfrm>
            <a:off x="548640" y="5212080"/>
            <a:ext cx="201168" cy="201168"/>
          </a:xfrm>
          <a:prstGeom prst="ellipse">
            <a:avLst/>
          </a:prstGeom>
          <a:solidFill>
            <a:srgbClr val="1C7293"/>
          </a:solidFill>
          <a:ln/>
        </p:spPr>
        <p:txBody>
          <a:bodyPr/>
          <a:lstStyle/>
          <a:p>
            <a:endParaRPr lang="en-US"/>
          </a:p>
        </p:txBody>
      </p:sp>
      <p:sp>
        <p:nvSpPr>
          <p:cNvPr id="17" name="Text 15"/>
          <p:cNvSpPr/>
          <p:nvPr/>
        </p:nvSpPr>
        <p:spPr>
          <a:xfrm>
            <a:off x="868680" y="5157216"/>
            <a:ext cx="2103120" cy="310896"/>
          </a:xfrm>
          <a:prstGeom prst="rect">
            <a:avLst/>
          </a:prstGeom>
          <a:noFill/>
          <a:ln/>
        </p:spPr>
        <p:txBody>
          <a:bodyPr wrap="square" rtlCol="0" anchor="ctr"/>
          <a:lstStyle/>
          <a:p>
            <a:pPr marL="0" indent="0">
              <a:buNone/>
            </a:pPr>
            <a:r>
              <a:rPr lang="en-US" sz="1600" dirty="0">
                <a:solidFill>
                  <a:srgbClr val="1B1F24"/>
                </a:solidFill>
                <a:latin typeface="Calibri" pitchFamily="34" charset="0"/>
                <a:ea typeface="Calibri" pitchFamily="34" charset="-122"/>
                <a:cs typeface="Calibri" pitchFamily="34" charset="-120"/>
              </a:rPr>
              <a:t>Define</a:t>
            </a:r>
            <a:endParaRPr lang="en-US" sz="1600" dirty="0"/>
          </a:p>
        </p:txBody>
      </p:sp>
      <p:sp>
        <p:nvSpPr>
          <p:cNvPr id="18" name="Shape 16"/>
          <p:cNvSpPr/>
          <p:nvPr/>
        </p:nvSpPr>
        <p:spPr>
          <a:xfrm>
            <a:off x="3063240" y="5212080"/>
            <a:ext cx="201168" cy="201168"/>
          </a:xfrm>
          <a:prstGeom prst="ellipse">
            <a:avLst/>
          </a:prstGeom>
          <a:solidFill>
            <a:srgbClr val="1C7293"/>
          </a:solidFill>
          <a:ln/>
        </p:spPr>
        <p:txBody>
          <a:bodyPr/>
          <a:lstStyle/>
          <a:p>
            <a:endParaRPr lang="en-US"/>
          </a:p>
        </p:txBody>
      </p:sp>
      <p:sp>
        <p:nvSpPr>
          <p:cNvPr id="19" name="Text 17"/>
          <p:cNvSpPr/>
          <p:nvPr/>
        </p:nvSpPr>
        <p:spPr>
          <a:xfrm>
            <a:off x="3383280" y="5157216"/>
            <a:ext cx="2103120" cy="310896"/>
          </a:xfrm>
          <a:prstGeom prst="rect">
            <a:avLst/>
          </a:prstGeom>
          <a:noFill/>
          <a:ln/>
        </p:spPr>
        <p:txBody>
          <a:bodyPr wrap="square" rtlCol="0" anchor="ctr"/>
          <a:lstStyle/>
          <a:p>
            <a:pPr marL="0" indent="0">
              <a:buNone/>
            </a:pPr>
            <a:r>
              <a:rPr lang="en-US" sz="1600" dirty="0">
                <a:solidFill>
                  <a:srgbClr val="1B1F24"/>
                </a:solidFill>
                <a:latin typeface="Calibri" pitchFamily="34" charset="0"/>
                <a:ea typeface="Calibri" pitchFamily="34" charset="-122"/>
                <a:cs typeface="Calibri" pitchFamily="34" charset="-120"/>
              </a:rPr>
              <a:t>Ideate</a:t>
            </a:r>
            <a:endParaRPr lang="en-US" sz="1600" dirty="0"/>
          </a:p>
        </p:txBody>
      </p:sp>
      <p:sp>
        <p:nvSpPr>
          <p:cNvPr id="20" name="Shape 18"/>
          <p:cNvSpPr/>
          <p:nvPr/>
        </p:nvSpPr>
        <p:spPr>
          <a:xfrm>
            <a:off x="548640" y="5669280"/>
            <a:ext cx="201168" cy="201168"/>
          </a:xfrm>
          <a:prstGeom prst="ellipse">
            <a:avLst/>
          </a:prstGeom>
          <a:solidFill>
            <a:srgbClr val="1C7293"/>
          </a:solidFill>
          <a:ln/>
        </p:spPr>
        <p:txBody>
          <a:bodyPr/>
          <a:lstStyle/>
          <a:p>
            <a:endParaRPr lang="en-US"/>
          </a:p>
        </p:txBody>
      </p:sp>
      <p:sp>
        <p:nvSpPr>
          <p:cNvPr id="21" name="Text 19"/>
          <p:cNvSpPr/>
          <p:nvPr/>
        </p:nvSpPr>
        <p:spPr>
          <a:xfrm>
            <a:off x="868680" y="5614416"/>
            <a:ext cx="2103120" cy="310896"/>
          </a:xfrm>
          <a:prstGeom prst="rect">
            <a:avLst/>
          </a:prstGeom>
          <a:noFill/>
          <a:ln/>
        </p:spPr>
        <p:txBody>
          <a:bodyPr wrap="square" rtlCol="0" anchor="ctr"/>
          <a:lstStyle/>
          <a:p>
            <a:pPr marL="0" indent="0">
              <a:buNone/>
            </a:pPr>
            <a:r>
              <a:rPr lang="en-US" sz="1600" dirty="0">
                <a:solidFill>
                  <a:srgbClr val="1B1F24"/>
                </a:solidFill>
                <a:latin typeface="Calibri" pitchFamily="34" charset="0"/>
                <a:ea typeface="Calibri" pitchFamily="34" charset="-122"/>
                <a:cs typeface="Calibri" pitchFamily="34" charset="-120"/>
              </a:rPr>
              <a:t>Prototype</a:t>
            </a:r>
            <a:endParaRPr lang="en-US" sz="1600" dirty="0"/>
          </a:p>
        </p:txBody>
      </p:sp>
      <p:sp>
        <p:nvSpPr>
          <p:cNvPr id="22" name="Shape 20"/>
          <p:cNvSpPr/>
          <p:nvPr/>
        </p:nvSpPr>
        <p:spPr>
          <a:xfrm>
            <a:off x="3063240" y="5669280"/>
            <a:ext cx="201168" cy="201168"/>
          </a:xfrm>
          <a:prstGeom prst="ellipse">
            <a:avLst/>
          </a:prstGeom>
          <a:solidFill>
            <a:srgbClr val="1C7293"/>
          </a:solidFill>
          <a:ln/>
        </p:spPr>
        <p:txBody>
          <a:bodyPr/>
          <a:lstStyle/>
          <a:p>
            <a:endParaRPr lang="en-US"/>
          </a:p>
        </p:txBody>
      </p:sp>
      <p:sp>
        <p:nvSpPr>
          <p:cNvPr id="23" name="Text 21"/>
          <p:cNvSpPr/>
          <p:nvPr/>
        </p:nvSpPr>
        <p:spPr>
          <a:xfrm>
            <a:off x="3383280" y="5614416"/>
            <a:ext cx="2103120" cy="310896"/>
          </a:xfrm>
          <a:prstGeom prst="rect">
            <a:avLst/>
          </a:prstGeom>
          <a:noFill/>
          <a:ln/>
        </p:spPr>
        <p:txBody>
          <a:bodyPr wrap="square" rtlCol="0" anchor="ctr"/>
          <a:lstStyle/>
          <a:p>
            <a:pPr marL="0" indent="0">
              <a:buNone/>
            </a:pPr>
            <a:r>
              <a:rPr lang="en-US" sz="1600" dirty="0">
                <a:solidFill>
                  <a:srgbClr val="1B1F24"/>
                </a:solidFill>
                <a:latin typeface="Calibri" pitchFamily="34" charset="0"/>
                <a:ea typeface="Calibri" pitchFamily="34" charset="-122"/>
                <a:cs typeface="Calibri" pitchFamily="34" charset="-120"/>
              </a:rPr>
              <a:t>Test &amp; Demo</a:t>
            </a:r>
            <a:endParaRPr lang="en-US" sz="1600" dirty="0"/>
          </a:p>
        </p:txBody>
      </p:sp>
      <p:sp>
        <p:nvSpPr>
          <p:cNvPr id="24" name="Shape 22"/>
          <p:cNvSpPr/>
          <p:nvPr/>
        </p:nvSpPr>
        <p:spPr>
          <a:xfrm>
            <a:off x="5852160" y="1691640"/>
            <a:ext cx="5760720" cy="4572000"/>
          </a:xfrm>
          <a:prstGeom prst="roundRect">
            <a:avLst>
              <a:gd name="adj" fmla="val 2000"/>
            </a:avLst>
          </a:prstGeom>
          <a:solidFill>
            <a:srgbClr val="F4F7F9"/>
          </a:solidFill>
          <a:ln w="12700">
            <a:solidFill>
              <a:srgbClr val="E1E7EB"/>
            </a:solidFill>
            <a:prstDash val="solid"/>
          </a:ln>
        </p:spPr>
        <p:txBody>
          <a:bodyPr/>
          <a:lstStyle/>
          <a:p>
            <a:endParaRPr lang="en-US"/>
          </a:p>
        </p:txBody>
      </p:sp>
      <p:sp>
        <p:nvSpPr>
          <p:cNvPr id="25" name="Text 23"/>
          <p:cNvSpPr/>
          <p:nvPr/>
        </p:nvSpPr>
        <p:spPr>
          <a:xfrm>
            <a:off x="6126480" y="1874520"/>
            <a:ext cx="5212080" cy="320040"/>
          </a:xfrm>
          <a:prstGeom prst="rect">
            <a:avLst/>
          </a:prstGeom>
          <a:noFill/>
          <a:ln/>
        </p:spPr>
        <p:txBody>
          <a:bodyPr wrap="square" rtlCol="0" anchor="ctr"/>
          <a:lstStyle/>
          <a:p>
            <a:pPr marL="0" indent="0">
              <a:buNone/>
            </a:pPr>
            <a:r>
              <a:rPr lang="en-US" b="1" dirty="0">
                <a:solidFill>
                  <a:srgbClr val="21295C"/>
                </a:solidFill>
                <a:latin typeface="Cambria" pitchFamily="34" charset="0"/>
                <a:ea typeface="Cambria" pitchFamily="34" charset="-122"/>
                <a:cs typeface="Cambria" pitchFamily="34" charset="-120"/>
              </a:rPr>
              <a:t>Team Members</a:t>
            </a:r>
            <a:endParaRPr lang="en-US" dirty="0"/>
          </a:p>
        </p:txBody>
      </p:sp>
      <p:sp>
        <p:nvSpPr>
          <p:cNvPr id="26" name="Shape 24"/>
          <p:cNvSpPr/>
          <p:nvPr/>
        </p:nvSpPr>
        <p:spPr>
          <a:xfrm>
            <a:off x="6126480" y="2331720"/>
            <a:ext cx="457200" cy="457200"/>
          </a:xfrm>
          <a:prstGeom prst="ellipse">
            <a:avLst/>
          </a:prstGeom>
          <a:solidFill>
            <a:srgbClr val="065A82"/>
          </a:solidFill>
          <a:ln/>
        </p:spPr>
        <p:txBody>
          <a:bodyPr/>
          <a:lstStyle/>
          <a:p>
            <a:endParaRPr lang="en-US"/>
          </a:p>
        </p:txBody>
      </p:sp>
      <p:sp>
        <p:nvSpPr>
          <p:cNvPr id="27" name="Text 25"/>
          <p:cNvSpPr/>
          <p:nvPr/>
        </p:nvSpPr>
        <p:spPr>
          <a:xfrm>
            <a:off x="6126480" y="2331720"/>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8" name="Text 26"/>
          <p:cNvSpPr/>
          <p:nvPr/>
        </p:nvSpPr>
        <p:spPr>
          <a:xfrm>
            <a:off x="6720840" y="2276856"/>
            <a:ext cx="1965960" cy="566928"/>
          </a:xfrm>
          <a:prstGeom prst="rect">
            <a:avLst/>
          </a:prstGeom>
          <a:noFill/>
          <a:ln/>
        </p:spPr>
        <p:txBody>
          <a:bodyPr wrap="square" rtlCol="0" anchor="ctr"/>
          <a:lstStyle/>
          <a:p>
            <a:pPr marL="0" indent="0">
              <a:buNone/>
            </a:pPr>
            <a:r>
              <a:rPr lang="en-US" sz="1200" b="1" dirty="0">
                <a:solidFill>
                  <a:srgbClr val="1B1F24"/>
                </a:solidFill>
                <a:latin typeface="Calibri" pitchFamily="34" charset="0"/>
                <a:ea typeface="Calibri" pitchFamily="34" charset="-122"/>
                <a:cs typeface="Calibri" pitchFamily="34" charset="-120"/>
              </a:rPr>
              <a:t>I.D.T. </a:t>
            </a:r>
            <a:r>
              <a:rPr lang="en-US" sz="1200" b="1" dirty="0" err="1">
                <a:solidFill>
                  <a:srgbClr val="1B1F24"/>
                </a:solidFill>
                <a:latin typeface="Calibri" pitchFamily="34" charset="0"/>
                <a:ea typeface="Calibri" pitchFamily="34" charset="-122"/>
                <a:cs typeface="Calibri" pitchFamily="34" charset="-120"/>
              </a:rPr>
              <a:t>Chathubhashana</a:t>
            </a:r>
            <a:endParaRPr lang="en-US" sz="1200" b="1" dirty="0">
              <a:solidFill>
                <a:srgbClr val="1B1F24"/>
              </a:solidFill>
              <a:latin typeface="Calibri" pitchFamily="34" charset="0"/>
              <a:ea typeface="Calibri" pitchFamily="34" charset="-122"/>
              <a:cs typeface="Calibri" pitchFamily="34" charset="-120"/>
            </a:endParaRPr>
          </a:p>
          <a:p>
            <a:pPr marL="0" indent="0">
              <a:buNone/>
            </a:pPr>
            <a:r>
              <a:rPr lang="en-US" sz="1200" b="1" dirty="0">
                <a:solidFill>
                  <a:srgbClr val="1B1F24"/>
                </a:solidFill>
                <a:latin typeface="Calibri" pitchFamily="34" charset="0"/>
                <a:ea typeface="Calibri" pitchFamily="34" charset="-122"/>
                <a:cs typeface="Calibri" pitchFamily="34" charset="-120"/>
              </a:rPr>
              <a:t>2023/ICTS/38
</a:t>
            </a:r>
            <a:r>
              <a:rPr lang="en-US" sz="1200" b="1" i="1" dirty="0">
                <a:solidFill>
                  <a:srgbClr val="5B6570"/>
                </a:solidFill>
                <a:latin typeface="Calibri" pitchFamily="34" charset="0"/>
                <a:ea typeface="Calibri" pitchFamily="34" charset="-122"/>
                <a:cs typeface="Calibri" pitchFamily="34" charset="-120"/>
              </a:rPr>
              <a:t>Hardware Design</a:t>
            </a:r>
            <a:endParaRPr lang="en-US" sz="1200" dirty="0"/>
          </a:p>
        </p:txBody>
      </p:sp>
      <p:sp>
        <p:nvSpPr>
          <p:cNvPr id="29" name="Shape 27"/>
          <p:cNvSpPr/>
          <p:nvPr/>
        </p:nvSpPr>
        <p:spPr>
          <a:xfrm>
            <a:off x="8823960" y="2331720"/>
            <a:ext cx="457200" cy="457200"/>
          </a:xfrm>
          <a:prstGeom prst="ellipse">
            <a:avLst/>
          </a:prstGeom>
          <a:solidFill>
            <a:srgbClr val="065A82"/>
          </a:solidFill>
          <a:ln/>
        </p:spPr>
        <p:txBody>
          <a:bodyPr/>
          <a:lstStyle/>
          <a:p>
            <a:endParaRPr lang="en-US"/>
          </a:p>
        </p:txBody>
      </p:sp>
      <p:sp>
        <p:nvSpPr>
          <p:cNvPr id="30" name="Text 28"/>
          <p:cNvSpPr/>
          <p:nvPr/>
        </p:nvSpPr>
        <p:spPr>
          <a:xfrm>
            <a:off x="8823960" y="2331720"/>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31" name="Text 29"/>
          <p:cNvSpPr/>
          <p:nvPr/>
        </p:nvSpPr>
        <p:spPr>
          <a:xfrm>
            <a:off x="9418320" y="2276856"/>
            <a:ext cx="1965960" cy="566928"/>
          </a:xfrm>
          <a:prstGeom prst="rect">
            <a:avLst/>
          </a:prstGeom>
          <a:noFill/>
          <a:ln/>
        </p:spPr>
        <p:txBody>
          <a:bodyPr wrap="square" rtlCol="0" anchor="ctr"/>
          <a:lstStyle/>
          <a:p>
            <a:r>
              <a:rPr lang="en-US" sz="1200" b="1" dirty="0">
                <a:solidFill>
                  <a:srgbClr val="1B1F24"/>
                </a:solidFill>
                <a:latin typeface="Calibri" pitchFamily="34" charset="0"/>
                <a:ea typeface="Calibri" pitchFamily="34" charset="-122"/>
                <a:cs typeface="Calibri" pitchFamily="34" charset="-120"/>
              </a:rPr>
              <a:t>H.D.H. Erandaka</a:t>
            </a:r>
          </a:p>
          <a:p>
            <a:r>
              <a:rPr lang="en-US" sz="1200" b="1" dirty="0">
                <a:solidFill>
                  <a:srgbClr val="1B1F24"/>
                </a:solidFill>
                <a:latin typeface="Calibri" pitchFamily="34" charset="0"/>
                <a:ea typeface="Calibri" pitchFamily="34" charset="-122"/>
                <a:cs typeface="Calibri" pitchFamily="34" charset="-120"/>
              </a:rPr>
              <a:t>2023/ICTS/39
</a:t>
            </a:r>
            <a:r>
              <a:rPr lang="en-US" sz="1200" b="1" i="1" dirty="0">
                <a:solidFill>
                  <a:srgbClr val="5B6570"/>
                </a:solidFill>
                <a:latin typeface="Calibri" pitchFamily="34" charset="0"/>
                <a:ea typeface="Calibri" pitchFamily="34" charset="-122"/>
                <a:cs typeface="Calibri" pitchFamily="34" charset="-120"/>
              </a:rPr>
              <a:t>Team Leader</a:t>
            </a:r>
            <a:endParaRPr lang="en-US" sz="1200" dirty="0"/>
          </a:p>
        </p:txBody>
      </p:sp>
      <p:sp>
        <p:nvSpPr>
          <p:cNvPr id="32" name="Shape 30"/>
          <p:cNvSpPr/>
          <p:nvPr/>
        </p:nvSpPr>
        <p:spPr>
          <a:xfrm>
            <a:off x="6126480" y="3172968"/>
            <a:ext cx="457200" cy="457200"/>
          </a:xfrm>
          <a:prstGeom prst="ellipse">
            <a:avLst/>
          </a:prstGeom>
          <a:solidFill>
            <a:srgbClr val="065A82"/>
          </a:solidFill>
          <a:ln/>
        </p:spPr>
        <p:txBody>
          <a:bodyPr/>
          <a:lstStyle/>
          <a:p>
            <a:endParaRPr lang="en-US"/>
          </a:p>
        </p:txBody>
      </p:sp>
      <p:sp>
        <p:nvSpPr>
          <p:cNvPr id="33" name="Text 31"/>
          <p:cNvSpPr/>
          <p:nvPr/>
        </p:nvSpPr>
        <p:spPr>
          <a:xfrm>
            <a:off x="6126480" y="3172968"/>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34" name="Text 32"/>
          <p:cNvSpPr/>
          <p:nvPr/>
        </p:nvSpPr>
        <p:spPr>
          <a:xfrm>
            <a:off x="6720840" y="3118104"/>
            <a:ext cx="1965960" cy="566928"/>
          </a:xfrm>
          <a:prstGeom prst="rect">
            <a:avLst/>
          </a:prstGeom>
          <a:noFill/>
          <a:ln/>
        </p:spPr>
        <p:txBody>
          <a:bodyPr wrap="square" rtlCol="0" anchor="ctr"/>
          <a:lstStyle/>
          <a:p>
            <a:r>
              <a:rPr lang="en-US" sz="1200" b="1" dirty="0">
                <a:solidFill>
                  <a:srgbClr val="1B1F24"/>
                </a:solidFill>
                <a:latin typeface="Calibri" pitchFamily="34" charset="0"/>
                <a:ea typeface="Calibri" pitchFamily="34" charset="-122"/>
                <a:cs typeface="Calibri" pitchFamily="34" charset="-120"/>
              </a:rPr>
              <a:t>T.M.D. </a:t>
            </a:r>
            <a:r>
              <a:rPr lang="en-US" sz="1200" b="1" dirty="0" err="1">
                <a:solidFill>
                  <a:srgbClr val="1B1F24"/>
                </a:solidFill>
                <a:latin typeface="Calibri" pitchFamily="34" charset="0"/>
                <a:ea typeface="Calibri" pitchFamily="34" charset="-122"/>
                <a:cs typeface="Calibri" pitchFamily="34" charset="-120"/>
              </a:rPr>
              <a:t>Madhusanka</a:t>
            </a:r>
            <a:endParaRPr lang="en-US" sz="1200" b="1" dirty="0">
              <a:solidFill>
                <a:srgbClr val="1B1F24"/>
              </a:solidFill>
              <a:latin typeface="Calibri" pitchFamily="34" charset="0"/>
              <a:ea typeface="Calibri" pitchFamily="34" charset="-122"/>
              <a:cs typeface="Calibri" pitchFamily="34" charset="-120"/>
            </a:endParaRPr>
          </a:p>
          <a:p>
            <a:r>
              <a:rPr lang="en-US" sz="1200" b="1" dirty="0">
                <a:solidFill>
                  <a:srgbClr val="1B1F24"/>
                </a:solidFill>
                <a:latin typeface="Calibri" pitchFamily="34" charset="0"/>
                <a:ea typeface="Calibri" pitchFamily="34" charset="-122"/>
                <a:cs typeface="Calibri" pitchFamily="34" charset="-120"/>
              </a:rPr>
              <a:t>2023/ICTS/40
</a:t>
            </a:r>
            <a:r>
              <a:rPr lang="en-US" sz="1200" b="1" i="1" dirty="0">
                <a:solidFill>
                  <a:srgbClr val="5B6570"/>
                </a:solidFill>
                <a:latin typeface="Calibri" pitchFamily="34" charset="0"/>
                <a:ea typeface="Calibri" pitchFamily="34" charset="-122"/>
                <a:cs typeface="Calibri" pitchFamily="34" charset="-120"/>
              </a:rPr>
              <a:t>Circuit Designer</a:t>
            </a:r>
            <a:endParaRPr lang="en-US" sz="1200" dirty="0"/>
          </a:p>
        </p:txBody>
      </p:sp>
      <p:sp>
        <p:nvSpPr>
          <p:cNvPr id="35" name="Shape 33"/>
          <p:cNvSpPr/>
          <p:nvPr/>
        </p:nvSpPr>
        <p:spPr>
          <a:xfrm>
            <a:off x="8823960" y="3172968"/>
            <a:ext cx="457200" cy="457200"/>
          </a:xfrm>
          <a:prstGeom prst="ellipse">
            <a:avLst/>
          </a:prstGeom>
          <a:solidFill>
            <a:srgbClr val="065A82"/>
          </a:solidFill>
          <a:ln/>
        </p:spPr>
        <p:txBody>
          <a:bodyPr/>
          <a:lstStyle/>
          <a:p>
            <a:endParaRPr lang="en-US"/>
          </a:p>
        </p:txBody>
      </p:sp>
      <p:sp>
        <p:nvSpPr>
          <p:cNvPr id="36" name="Text 34"/>
          <p:cNvSpPr/>
          <p:nvPr/>
        </p:nvSpPr>
        <p:spPr>
          <a:xfrm>
            <a:off x="8823960" y="3172968"/>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37" name="Text 35"/>
          <p:cNvSpPr/>
          <p:nvPr/>
        </p:nvSpPr>
        <p:spPr>
          <a:xfrm>
            <a:off x="9418320" y="3118104"/>
            <a:ext cx="1965960" cy="566928"/>
          </a:xfrm>
          <a:prstGeom prst="rect">
            <a:avLst/>
          </a:prstGeom>
          <a:noFill/>
          <a:ln/>
        </p:spPr>
        <p:txBody>
          <a:bodyPr wrap="square" rtlCol="0" anchor="ctr"/>
          <a:lstStyle/>
          <a:p>
            <a:r>
              <a:rPr lang="en-US" sz="1200" b="1" dirty="0">
                <a:solidFill>
                  <a:srgbClr val="1B1F24"/>
                </a:solidFill>
                <a:latin typeface="Calibri" pitchFamily="34" charset="0"/>
                <a:ea typeface="Calibri" pitchFamily="34" charset="-122"/>
                <a:cs typeface="Calibri" pitchFamily="34" charset="-120"/>
              </a:rPr>
              <a:t>G.G.S. Chanuka</a:t>
            </a:r>
          </a:p>
          <a:p>
            <a:r>
              <a:rPr lang="en-US" sz="1200" b="1" dirty="0">
                <a:solidFill>
                  <a:srgbClr val="1B1F24"/>
                </a:solidFill>
                <a:latin typeface="Calibri" pitchFamily="34" charset="0"/>
                <a:ea typeface="Calibri" pitchFamily="34" charset="-122"/>
                <a:cs typeface="Calibri" pitchFamily="34" charset="-120"/>
              </a:rPr>
              <a:t>2023/ICTS/43
</a:t>
            </a:r>
            <a:r>
              <a:rPr lang="en-US" sz="1200" b="1" i="1" dirty="0">
                <a:solidFill>
                  <a:srgbClr val="5B6570"/>
                </a:solidFill>
                <a:latin typeface="Calibri" pitchFamily="34" charset="0"/>
                <a:ea typeface="Calibri" pitchFamily="34" charset="-122"/>
                <a:cs typeface="Calibri" pitchFamily="34" charset="-120"/>
              </a:rPr>
              <a:t>Testing </a:t>
            </a:r>
            <a:endParaRPr lang="en-US" sz="1200" dirty="0"/>
          </a:p>
        </p:txBody>
      </p:sp>
      <p:sp>
        <p:nvSpPr>
          <p:cNvPr id="38" name="Shape 36"/>
          <p:cNvSpPr/>
          <p:nvPr/>
        </p:nvSpPr>
        <p:spPr>
          <a:xfrm>
            <a:off x="6126480" y="4014216"/>
            <a:ext cx="457200" cy="457200"/>
          </a:xfrm>
          <a:prstGeom prst="ellipse">
            <a:avLst/>
          </a:prstGeom>
          <a:solidFill>
            <a:srgbClr val="065A82"/>
          </a:solidFill>
          <a:ln/>
        </p:spPr>
        <p:txBody>
          <a:bodyPr/>
          <a:lstStyle/>
          <a:p>
            <a:endParaRPr lang="en-US"/>
          </a:p>
        </p:txBody>
      </p:sp>
      <p:sp>
        <p:nvSpPr>
          <p:cNvPr id="39" name="Text 37"/>
          <p:cNvSpPr/>
          <p:nvPr/>
        </p:nvSpPr>
        <p:spPr>
          <a:xfrm>
            <a:off x="6126480" y="4014216"/>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40" name="Text 38"/>
          <p:cNvSpPr/>
          <p:nvPr/>
        </p:nvSpPr>
        <p:spPr>
          <a:xfrm>
            <a:off x="6720840" y="3959352"/>
            <a:ext cx="1965960" cy="566928"/>
          </a:xfrm>
          <a:prstGeom prst="rect">
            <a:avLst/>
          </a:prstGeom>
          <a:noFill/>
          <a:ln/>
        </p:spPr>
        <p:txBody>
          <a:bodyPr wrap="square" rtlCol="0" anchor="ctr"/>
          <a:lstStyle/>
          <a:p>
            <a:r>
              <a:rPr lang="en-US" sz="1200" b="1" dirty="0">
                <a:solidFill>
                  <a:srgbClr val="1B1F24"/>
                </a:solidFill>
                <a:latin typeface="Calibri" pitchFamily="34" charset="0"/>
                <a:ea typeface="Calibri" pitchFamily="34" charset="-122"/>
                <a:cs typeface="Calibri" pitchFamily="34" charset="-120"/>
              </a:rPr>
              <a:t>A.T. </a:t>
            </a:r>
            <a:r>
              <a:rPr lang="en-US" sz="1200" b="1" dirty="0" err="1">
                <a:solidFill>
                  <a:srgbClr val="1B1F24"/>
                </a:solidFill>
                <a:latin typeface="Calibri" pitchFamily="34" charset="0"/>
                <a:ea typeface="Calibri" pitchFamily="34" charset="-122"/>
                <a:cs typeface="Calibri" pitchFamily="34" charset="-120"/>
              </a:rPr>
              <a:t>Dilhari</a:t>
            </a:r>
            <a:endParaRPr lang="en-US" sz="1200" b="1" dirty="0">
              <a:solidFill>
                <a:srgbClr val="1B1F24"/>
              </a:solidFill>
              <a:latin typeface="Calibri" pitchFamily="34" charset="0"/>
              <a:ea typeface="Calibri" pitchFamily="34" charset="-122"/>
              <a:cs typeface="Calibri" pitchFamily="34" charset="-120"/>
            </a:endParaRPr>
          </a:p>
          <a:p>
            <a:r>
              <a:rPr lang="en-US" sz="1200" b="1" dirty="0">
                <a:solidFill>
                  <a:srgbClr val="1B1F24"/>
                </a:solidFill>
                <a:latin typeface="Calibri" pitchFamily="34" charset="0"/>
                <a:ea typeface="Calibri" pitchFamily="34" charset="-122"/>
                <a:cs typeface="Calibri" pitchFamily="34" charset="-120"/>
              </a:rPr>
              <a:t>2023/ICTS/44
</a:t>
            </a:r>
            <a:r>
              <a:rPr lang="en-US" sz="1200" b="1" i="1" dirty="0">
                <a:solidFill>
                  <a:srgbClr val="5B6570"/>
                </a:solidFill>
                <a:latin typeface="Calibri" pitchFamily="34" charset="0"/>
                <a:ea typeface="Calibri" pitchFamily="34" charset="-122"/>
                <a:cs typeface="Calibri" pitchFamily="34" charset="-120"/>
              </a:rPr>
              <a:t>Presentation</a:t>
            </a:r>
            <a:endParaRPr lang="en-US" sz="1200" dirty="0"/>
          </a:p>
        </p:txBody>
      </p:sp>
      <p:sp>
        <p:nvSpPr>
          <p:cNvPr id="41" name="Shape 39"/>
          <p:cNvSpPr/>
          <p:nvPr/>
        </p:nvSpPr>
        <p:spPr>
          <a:xfrm>
            <a:off x="8823960" y="4014216"/>
            <a:ext cx="457200" cy="457200"/>
          </a:xfrm>
          <a:prstGeom prst="ellipse">
            <a:avLst/>
          </a:prstGeom>
          <a:solidFill>
            <a:srgbClr val="065A82"/>
          </a:solidFill>
          <a:ln/>
        </p:spPr>
        <p:txBody>
          <a:bodyPr/>
          <a:lstStyle/>
          <a:p>
            <a:endParaRPr lang="en-US"/>
          </a:p>
        </p:txBody>
      </p:sp>
      <p:sp>
        <p:nvSpPr>
          <p:cNvPr id="42" name="Text 40"/>
          <p:cNvSpPr/>
          <p:nvPr/>
        </p:nvSpPr>
        <p:spPr>
          <a:xfrm>
            <a:off x="8823960" y="4014216"/>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43" name="Text 41"/>
          <p:cNvSpPr/>
          <p:nvPr/>
        </p:nvSpPr>
        <p:spPr>
          <a:xfrm>
            <a:off x="9418320" y="3959352"/>
            <a:ext cx="1965960" cy="566928"/>
          </a:xfrm>
          <a:prstGeom prst="rect">
            <a:avLst/>
          </a:prstGeom>
          <a:noFill/>
          <a:ln/>
        </p:spPr>
        <p:txBody>
          <a:bodyPr wrap="square" rtlCol="0" anchor="ctr"/>
          <a:lstStyle/>
          <a:p>
            <a:r>
              <a:rPr lang="en-US" sz="1200" b="1" dirty="0">
                <a:solidFill>
                  <a:srgbClr val="1B1F24"/>
                </a:solidFill>
                <a:latin typeface="Calibri" pitchFamily="34" charset="0"/>
                <a:ea typeface="Calibri" pitchFamily="34" charset="-122"/>
                <a:cs typeface="Calibri" pitchFamily="34" charset="-120"/>
              </a:rPr>
              <a:t>F.M.F. </a:t>
            </a:r>
            <a:r>
              <a:rPr lang="en-US" sz="1200" b="1" dirty="0" err="1">
                <a:solidFill>
                  <a:srgbClr val="1B1F24"/>
                </a:solidFill>
                <a:latin typeface="Calibri" pitchFamily="34" charset="0"/>
                <a:ea typeface="Calibri" pitchFamily="34" charset="-122"/>
                <a:cs typeface="Calibri" pitchFamily="34" charset="-120"/>
              </a:rPr>
              <a:t>Faara</a:t>
            </a:r>
            <a:endParaRPr lang="en-US" sz="1200" b="1" dirty="0">
              <a:solidFill>
                <a:srgbClr val="1B1F24"/>
              </a:solidFill>
              <a:latin typeface="Calibri" pitchFamily="34" charset="0"/>
              <a:ea typeface="Calibri" pitchFamily="34" charset="-122"/>
              <a:cs typeface="Calibri" pitchFamily="34" charset="-120"/>
            </a:endParaRPr>
          </a:p>
          <a:p>
            <a:r>
              <a:rPr lang="en-US" sz="1200" b="1" dirty="0">
                <a:solidFill>
                  <a:srgbClr val="1B1F24"/>
                </a:solidFill>
                <a:latin typeface="Calibri" pitchFamily="34" charset="0"/>
                <a:ea typeface="Calibri" pitchFamily="34" charset="-122"/>
                <a:cs typeface="Calibri" pitchFamily="34" charset="-120"/>
              </a:rPr>
              <a:t>2023/ICTS/45
</a:t>
            </a:r>
            <a:r>
              <a:rPr lang="en-US" sz="1200" b="1" i="1" dirty="0">
                <a:solidFill>
                  <a:srgbClr val="5B6570"/>
                </a:solidFill>
                <a:latin typeface="Calibri" pitchFamily="34" charset="0"/>
                <a:ea typeface="Calibri" pitchFamily="34" charset="-122"/>
                <a:cs typeface="Calibri" pitchFamily="34" charset="-120"/>
              </a:rPr>
              <a:t>Documentation</a:t>
            </a:r>
            <a:endParaRPr lang="en-US" sz="1200" dirty="0"/>
          </a:p>
        </p:txBody>
      </p:sp>
      <p:sp>
        <p:nvSpPr>
          <p:cNvPr id="44" name="Shape 42"/>
          <p:cNvSpPr/>
          <p:nvPr/>
        </p:nvSpPr>
        <p:spPr>
          <a:xfrm>
            <a:off x="6126480" y="4855464"/>
            <a:ext cx="457200" cy="457200"/>
          </a:xfrm>
          <a:prstGeom prst="ellipse">
            <a:avLst/>
          </a:prstGeom>
          <a:solidFill>
            <a:srgbClr val="065A82"/>
          </a:solidFill>
          <a:ln/>
        </p:spPr>
        <p:txBody>
          <a:bodyPr/>
          <a:lstStyle/>
          <a:p>
            <a:endParaRPr lang="en-US"/>
          </a:p>
        </p:txBody>
      </p:sp>
      <p:sp>
        <p:nvSpPr>
          <p:cNvPr id="45" name="Text 43"/>
          <p:cNvSpPr/>
          <p:nvPr/>
        </p:nvSpPr>
        <p:spPr>
          <a:xfrm>
            <a:off x="6126480" y="4855464"/>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46" name="Text 44"/>
          <p:cNvSpPr/>
          <p:nvPr/>
        </p:nvSpPr>
        <p:spPr>
          <a:xfrm>
            <a:off x="6720840" y="4800600"/>
            <a:ext cx="1965960" cy="566928"/>
          </a:xfrm>
          <a:prstGeom prst="rect">
            <a:avLst/>
          </a:prstGeom>
          <a:noFill/>
          <a:ln/>
        </p:spPr>
        <p:txBody>
          <a:bodyPr wrap="square" rtlCol="0" anchor="ctr"/>
          <a:lstStyle/>
          <a:p>
            <a:r>
              <a:rPr lang="en-US" sz="1200" b="1" dirty="0">
                <a:solidFill>
                  <a:srgbClr val="1B1F24"/>
                </a:solidFill>
                <a:latin typeface="Calibri" pitchFamily="34" charset="0"/>
                <a:ea typeface="Calibri" pitchFamily="34" charset="-122"/>
                <a:cs typeface="Calibri" pitchFamily="34" charset="-120"/>
              </a:rPr>
              <a:t>W.A.D.M. Weerasinghe</a:t>
            </a:r>
          </a:p>
          <a:p>
            <a:r>
              <a:rPr lang="en-US" sz="1200" b="1" dirty="0">
                <a:solidFill>
                  <a:srgbClr val="1B1F24"/>
                </a:solidFill>
                <a:latin typeface="Calibri" pitchFamily="34" charset="0"/>
                <a:ea typeface="Calibri" pitchFamily="34" charset="-122"/>
                <a:cs typeface="Calibri" pitchFamily="34" charset="-120"/>
              </a:rPr>
              <a:t>2023/ICTS/46
</a:t>
            </a:r>
            <a:r>
              <a:rPr lang="en-US" sz="1200" b="1" i="1" dirty="0">
                <a:solidFill>
                  <a:srgbClr val="5B6570"/>
                </a:solidFill>
                <a:latin typeface="Calibri" pitchFamily="34" charset="0"/>
                <a:ea typeface="Calibri" pitchFamily="34" charset="-122"/>
                <a:cs typeface="Calibri" pitchFamily="34" charset="-120"/>
              </a:rPr>
              <a:t>Prototype Builder</a:t>
            </a:r>
            <a:endParaRPr lang="en-US" sz="1200" dirty="0"/>
          </a:p>
        </p:txBody>
      </p:sp>
      <p:sp>
        <p:nvSpPr>
          <p:cNvPr id="49" name="Shape 16">
            <a:extLst>
              <a:ext uri="{FF2B5EF4-FFF2-40B4-BE49-F238E27FC236}">
                <a16:creationId xmlns:a16="http://schemas.microsoft.com/office/drawing/2014/main" id="{FC98D6FE-7591-2A0C-AE84-54F945C7B3B6}"/>
              </a:ext>
            </a:extLst>
          </p:cNvPr>
          <p:cNvSpPr/>
          <p:nvPr/>
        </p:nvSpPr>
        <p:spPr>
          <a:xfrm>
            <a:off x="1" y="6472518"/>
            <a:ext cx="12192000" cy="385482"/>
          </a:xfrm>
          <a:prstGeom prst="roundRect">
            <a:avLst>
              <a:gd name="adj" fmla="val 5333"/>
            </a:avLst>
          </a:prstGeom>
          <a:solidFill>
            <a:srgbClr val="0E1228"/>
          </a:solidFill>
          <a:ln/>
        </p:spPr>
        <p:txBody>
          <a:bodyPr/>
          <a:lstStyle/>
          <a:p>
            <a:endParaRPr lang="en-US"/>
          </a:p>
        </p:txBody>
      </p:sp>
      <p:sp>
        <p:nvSpPr>
          <p:cNvPr id="50" name="Text 19">
            <a:extLst>
              <a:ext uri="{FF2B5EF4-FFF2-40B4-BE49-F238E27FC236}">
                <a16:creationId xmlns:a16="http://schemas.microsoft.com/office/drawing/2014/main" id="{76D5F1E7-02CB-97FA-2C16-4CDDCF3890B1}"/>
              </a:ext>
            </a:extLst>
          </p:cNvPr>
          <p:cNvSpPr/>
          <p:nvPr/>
        </p:nvSpPr>
        <p:spPr>
          <a:xfrm>
            <a:off x="548640" y="6537960"/>
            <a:ext cx="7315200" cy="274320"/>
          </a:xfrm>
          <a:prstGeom prst="rect">
            <a:avLst/>
          </a:prstGeom>
          <a:noFill/>
          <a:ln/>
        </p:spPr>
        <p:txBody>
          <a:bodyPr wrap="square" rtlCol="0" anchor="ctr"/>
          <a:lstStyle/>
          <a:p>
            <a:pPr marL="0" indent="0">
              <a:buNone/>
            </a:pPr>
            <a:r>
              <a:rPr lang="en-US" sz="1000" i="1" dirty="0">
                <a:solidFill>
                  <a:schemeClr val="bg1"/>
                </a:solidFill>
                <a:latin typeface="Calibri" pitchFamily="34" charset="0"/>
                <a:ea typeface="Calibri" pitchFamily="34" charset="-122"/>
                <a:cs typeface="Calibri" pitchFamily="34" charset="-120"/>
              </a:rPr>
              <a:t>Section: Conclusion &amp; Demo</a:t>
            </a:r>
            <a:endParaRPr lang="en-US" sz="1000" dirty="0">
              <a:solidFill>
                <a:schemeClr val="bg1"/>
              </a:solidFill>
            </a:endParaRPr>
          </a:p>
        </p:txBody>
      </p:sp>
      <p:sp>
        <p:nvSpPr>
          <p:cNvPr id="51" name="Text 20">
            <a:extLst>
              <a:ext uri="{FF2B5EF4-FFF2-40B4-BE49-F238E27FC236}">
                <a16:creationId xmlns:a16="http://schemas.microsoft.com/office/drawing/2014/main" id="{4CC75095-B224-2F49-A87D-AE2E48417442}"/>
              </a:ext>
            </a:extLst>
          </p:cNvPr>
          <p:cNvSpPr/>
          <p:nvPr/>
        </p:nvSpPr>
        <p:spPr>
          <a:xfrm>
            <a:off x="7434072" y="6537960"/>
            <a:ext cx="4206240" cy="274320"/>
          </a:xfrm>
          <a:prstGeom prst="rect">
            <a:avLst/>
          </a:prstGeom>
          <a:noFill/>
          <a:ln/>
        </p:spPr>
        <p:txBody>
          <a:bodyPr wrap="square" rtlCol="0" anchor="ctr"/>
          <a:lstStyle/>
          <a:p>
            <a:pPr marL="0" indent="0" algn="r">
              <a:buNone/>
            </a:pPr>
            <a:r>
              <a:rPr lang="en-US" sz="1000" dirty="0">
                <a:solidFill>
                  <a:schemeClr val="bg1"/>
                </a:solidFill>
                <a:latin typeface="Calibri" pitchFamily="34" charset="0"/>
                <a:ea typeface="Calibri" pitchFamily="34" charset="-122"/>
                <a:cs typeface="Calibri" pitchFamily="34" charset="-120"/>
              </a:rPr>
              <a:t>TICT 2153 (T) — Human Computer Interaction</a:t>
            </a:r>
            <a:endParaRPr lang="en-US" sz="10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65A82"/>
          </a:solidFill>
          <a:ln/>
        </p:spPr>
        <p:txBody>
          <a:bodyPr/>
          <a:lstStyle/>
          <a:p>
            <a:endParaRPr lang="en-US"/>
          </a:p>
        </p:txBody>
      </p:sp>
      <p:sp>
        <p:nvSpPr>
          <p:cNvPr id="3" name="Text 1"/>
          <p:cNvSpPr/>
          <p:nvPr/>
        </p:nvSpPr>
        <p:spPr>
          <a:xfrm>
            <a:off x="548640" y="502920"/>
            <a:ext cx="457200" cy="45720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II</a:t>
            </a:r>
            <a:endParaRPr lang="en-US" sz="2000" dirty="0"/>
          </a:p>
        </p:txBody>
      </p:sp>
      <p:sp>
        <p:nvSpPr>
          <p:cNvPr id="4" name="Text 2"/>
          <p:cNvSpPr/>
          <p:nvPr/>
        </p:nvSpPr>
        <p:spPr>
          <a:xfrm>
            <a:off x="1188720" y="411480"/>
            <a:ext cx="7772400" cy="548640"/>
          </a:xfrm>
          <a:prstGeom prst="rect">
            <a:avLst/>
          </a:prstGeom>
          <a:noFill/>
          <a:ln/>
        </p:spPr>
        <p:txBody>
          <a:bodyPr wrap="square" rtlCol="0" anchor="ctr"/>
          <a:lstStyle/>
          <a:p>
            <a:pPr marL="0" indent="0">
              <a:buNone/>
            </a:pPr>
            <a:r>
              <a:rPr lang="en-US" sz="3000" b="1" dirty="0">
                <a:solidFill>
                  <a:srgbClr val="0E1228"/>
                </a:solidFill>
                <a:latin typeface="Cambria" pitchFamily="34" charset="0"/>
                <a:ea typeface="Cambria" pitchFamily="34" charset="-122"/>
                <a:cs typeface="Cambria" pitchFamily="34" charset="-120"/>
              </a:rPr>
              <a:t>Problem Statement</a:t>
            </a:r>
            <a:endParaRPr lang="en-US" sz="3000" dirty="0">
              <a:solidFill>
                <a:srgbClr val="0E1228"/>
              </a:solidFill>
            </a:endParaRPr>
          </a:p>
        </p:txBody>
      </p:sp>
      <p:sp>
        <p:nvSpPr>
          <p:cNvPr id="5" name="Text 3"/>
          <p:cNvSpPr/>
          <p:nvPr/>
        </p:nvSpPr>
        <p:spPr>
          <a:xfrm>
            <a:off x="1188720" y="914400"/>
            <a:ext cx="7772400" cy="320040"/>
          </a:xfrm>
          <a:prstGeom prst="rect">
            <a:avLst/>
          </a:prstGeom>
          <a:noFill/>
          <a:ln/>
        </p:spPr>
        <p:txBody>
          <a:bodyPr wrap="square"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Defining the real-world problem, we address</a:t>
            </a:r>
            <a:endParaRPr lang="en-US" sz="1400" dirty="0"/>
          </a:p>
        </p:txBody>
      </p:sp>
      <p:sp>
        <p:nvSpPr>
          <p:cNvPr id="8" name="Shape 6"/>
          <p:cNvSpPr/>
          <p:nvPr/>
        </p:nvSpPr>
        <p:spPr>
          <a:xfrm>
            <a:off x="548640" y="1417320"/>
            <a:ext cx="11091672" cy="0"/>
          </a:xfrm>
          <a:prstGeom prst="line">
            <a:avLst/>
          </a:prstGeom>
          <a:noFill/>
          <a:ln w="12700">
            <a:solidFill>
              <a:srgbClr val="E1E7EB"/>
            </a:solidFill>
            <a:prstDash val="solid"/>
          </a:ln>
        </p:spPr>
        <p:txBody>
          <a:bodyPr/>
          <a:lstStyle/>
          <a:p>
            <a:endParaRPr lang="en-US"/>
          </a:p>
        </p:txBody>
      </p:sp>
      <p:sp>
        <p:nvSpPr>
          <p:cNvPr id="9" name="Shape 7"/>
          <p:cNvSpPr/>
          <p:nvPr/>
        </p:nvSpPr>
        <p:spPr>
          <a:xfrm>
            <a:off x="548640" y="1737360"/>
            <a:ext cx="6309360" cy="4480560"/>
          </a:xfrm>
          <a:prstGeom prst="roundRect">
            <a:avLst>
              <a:gd name="adj" fmla="val 2041"/>
            </a:avLst>
          </a:prstGeom>
          <a:solidFill>
            <a:srgbClr val="F4F7F9"/>
          </a:solidFill>
          <a:ln w="12700">
            <a:solidFill>
              <a:srgbClr val="E1E7EB"/>
            </a:solidFill>
            <a:prstDash val="solid"/>
          </a:ln>
        </p:spPr>
        <p:txBody>
          <a:bodyPr/>
          <a:lstStyle/>
          <a:p>
            <a:endParaRPr lang="en-US"/>
          </a:p>
        </p:txBody>
      </p:sp>
      <p:sp>
        <p:nvSpPr>
          <p:cNvPr id="10" name="Text 8"/>
          <p:cNvSpPr/>
          <p:nvPr/>
        </p:nvSpPr>
        <p:spPr>
          <a:xfrm>
            <a:off x="822960" y="1920240"/>
            <a:ext cx="5760720" cy="320040"/>
          </a:xfrm>
          <a:prstGeom prst="rect">
            <a:avLst/>
          </a:prstGeom>
          <a:noFill/>
          <a:ln/>
        </p:spPr>
        <p:txBody>
          <a:bodyPr wrap="square" rtlCol="0" anchor="ctr"/>
          <a:lstStyle/>
          <a:p>
            <a:pPr marL="0" indent="0">
              <a:buNone/>
            </a:pPr>
            <a:r>
              <a:rPr lang="en-US" b="1" dirty="0">
                <a:solidFill>
                  <a:srgbClr val="21295C"/>
                </a:solidFill>
                <a:latin typeface="Cambria" pitchFamily="34" charset="0"/>
                <a:ea typeface="Cambria" pitchFamily="34" charset="-122"/>
                <a:cs typeface="Cambria" pitchFamily="34" charset="-120"/>
              </a:rPr>
              <a:t>The Problem</a:t>
            </a:r>
            <a:endParaRPr lang="en-US" dirty="0"/>
          </a:p>
        </p:txBody>
      </p:sp>
      <p:sp>
        <p:nvSpPr>
          <p:cNvPr id="11" name="Text 9"/>
          <p:cNvSpPr/>
          <p:nvPr/>
        </p:nvSpPr>
        <p:spPr>
          <a:xfrm>
            <a:off x="822960" y="2145108"/>
            <a:ext cx="5760720" cy="2286000"/>
          </a:xfrm>
          <a:prstGeom prst="rect">
            <a:avLst/>
          </a:prstGeom>
          <a:noFill/>
          <a:ln/>
        </p:spPr>
        <p:txBody>
          <a:bodyPr wrap="square" rtlCol="0" anchor="ctr"/>
          <a:lstStyle/>
          <a:p>
            <a:pPr marL="0" indent="0">
              <a:lnSpc>
                <a:spcPct val="130000"/>
              </a:lnSpc>
              <a:buNone/>
            </a:pPr>
            <a:r>
              <a:rPr lang="en-US" sz="1500" i="1" dirty="0">
                <a:solidFill>
                  <a:srgbClr val="1B1F24"/>
                </a:solidFill>
                <a:latin typeface="Calibri" pitchFamily="34" charset="0"/>
                <a:ea typeface="Calibri" pitchFamily="34" charset="-122"/>
                <a:cs typeface="Calibri" pitchFamily="34" charset="-120"/>
              </a:rPr>
              <a:t>University students, software developers and office workers may sit for more than 4 hours a day at computers. Poor sitting posture can contribute to musculoskeletal complications, chronic back pain and spinal strain. Existing desktop and mobile reminders can be dismissed, muted or hidden, creating notification fatigue. The project therefore addresses the need for a non-intrusive physical workspace companion that continuously reminds users to maintain better posture.</a:t>
            </a:r>
            <a:endParaRPr lang="en-US" sz="1500" i="1" dirty="0"/>
          </a:p>
        </p:txBody>
      </p:sp>
      <p:sp>
        <p:nvSpPr>
          <p:cNvPr id="12" name="Shape 10"/>
          <p:cNvSpPr/>
          <p:nvPr/>
        </p:nvSpPr>
        <p:spPr>
          <a:xfrm>
            <a:off x="822960" y="4447897"/>
            <a:ext cx="5760720" cy="0"/>
          </a:xfrm>
          <a:prstGeom prst="line">
            <a:avLst/>
          </a:prstGeom>
          <a:noFill/>
          <a:ln w="12700">
            <a:solidFill>
              <a:srgbClr val="E1E7EB"/>
            </a:solidFill>
            <a:prstDash val="solid"/>
          </a:ln>
        </p:spPr>
        <p:txBody>
          <a:bodyPr/>
          <a:lstStyle/>
          <a:p>
            <a:endParaRPr lang="en-US"/>
          </a:p>
        </p:txBody>
      </p:sp>
      <p:sp>
        <p:nvSpPr>
          <p:cNvPr id="13" name="Text 11"/>
          <p:cNvSpPr/>
          <p:nvPr/>
        </p:nvSpPr>
        <p:spPr>
          <a:xfrm>
            <a:off x="822960" y="4566394"/>
            <a:ext cx="5760720" cy="320040"/>
          </a:xfrm>
          <a:prstGeom prst="rect">
            <a:avLst/>
          </a:prstGeom>
          <a:noFill/>
          <a:ln/>
        </p:spPr>
        <p:txBody>
          <a:bodyPr wrap="square" rtlCol="0" anchor="ctr"/>
          <a:lstStyle/>
          <a:p>
            <a:pPr marL="0" indent="0">
              <a:buNone/>
            </a:pPr>
            <a:r>
              <a:rPr lang="en-US" b="1" dirty="0">
                <a:solidFill>
                  <a:srgbClr val="21295C"/>
                </a:solidFill>
                <a:latin typeface="Cambria" pitchFamily="34" charset="0"/>
                <a:ea typeface="Cambria" pitchFamily="34" charset="-122"/>
                <a:cs typeface="Cambria" pitchFamily="34" charset="-120"/>
              </a:rPr>
              <a:t>Target Users</a:t>
            </a:r>
            <a:endParaRPr lang="en-US" dirty="0"/>
          </a:p>
        </p:txBody>
      </p:sp>
      <p:sp>
        <p:nvSpPr>
          <p:cNvPr id="14" name="Text 12"/>
          <p:cNvSpPr/>
          <p:nvPr/>
        </p:nvSpPr>
        <p:spPr>
          <a:xfrm>
            <a:off x="822960" y="4969853"/>
            <a:ext cx="5760720" cy="1045464"/>
          </a:xfrm>
          <a:prstGeom prst="rect">
            <a:avLst/>
          </a:prstGeom>
          <a:noFill/>
          <a:ln/>
        </p:spPr>
        <p:txBody>
          <a:bodyPr wrap="square" rtlCol="0" anchor="ctr"/>
          <a:lstStyle/>
          <a:p>
            <a:pPr marL="0" indent="0">
              <a:buNone/>
            </a:pPr>
            <a:r>
              <a:rPr lang="en-US" sz="1500" b="1" dirty="0">
                <a:solidFill>
                  <a:srgbClr val="1C7293"/>
                </a:solidFill>
                <a:latin typeface="Calibri" pitchFamily="34" charset="0"/>
                <a:ea typeface="Calibri" pitchFamily="34" charset="-122"/>
                <a:cs typeface="Calibri" pitchFamily="34" charset="-120"/>
              </a:rPr>
              <a:t>• </a:t>
            </a:r>
            <a:r>
              <a:rPr lang="en-US" sz="1500" i="1" dirty="0">
                <a:solidFill>
                  <a:srgbClr val="1B1F24"/>
                </a:solidFill>
                <a:latin typeface="Calibri" pitchFamily="34" charset="0"/>
                <a:ea typeface="Calibri" pitchFamily="34" charset="-122"/>
                <a:cs typeface="Calibri" pitchFamily="34" charset="-120"/>
              </a:rPr>
              <a:t>Primary users: university IT/Engineering students, software developers and administrative corporate workers aged 18–45.</a:t>
            </a:r>
          </a:p>
          <a:p>
            <a:pPr marL="0" indent="0">
              <a:buNone/>
            </a:pPr>
            <a:r>
              <a:rPr lang="en-US" sz="1500" b="1" dirty="0">
                <a:solidFill>
                  <a:srgbClr val="1C7293"/>
                </a:solidFill>
                <a:latin typeface="Calibri" pitchFamily="34" charset="0"/>
                <a:ea typeface="Calibri" pitchFamily="34" charset="-122"/>
                <a:cs typeface="Calibri" pitchFamily="34" charset="-120"/>
              </a:rPr>
              <a:t>• </a:t>
            </a:r>
            <a:r>
              <a:rPr lang="en-US" sz="1500" i="1" dirty="0">
                <a:solidFill>
                  <a:srgbClr val="1B1F24"/>
                </a:solidFill>
                <a:latin typeface="Calibri" pitchFamily="34" charset="0"/>
                <a:ea typeface="Calibri" pitchFamily="34" charset="-122"/>
                <a:cs typeface="Calibri" pitchFamily="34" charset="-120"/>
              </a:rPr>
              <a:t>Needs: passive physical prompts to correct subconscious slouching.</a:t>
            </a:r>
          </a:p>
          <a:p>
            <a:pPr marL="0" indent="0">
              <a:buNone/>
            </a:pPr>
            <a:r>
              <a:rPr lang="en-US" sz="1500" b="1" dirty="0">
                <a:solidFill>
                  <a:srgbClr val="1C7293"/>
                </a:solidFill>
                <a:latin typeface="Calibri" pitchFamily="34" charset="0"/>
                <a:ea typeface="Calibri" pitchFamily="34" charset="-122"/>
                <a:cs typeface="Calibri" pitchFamily="34" charset="-120"/>
              </a:rPr>
              <a:t>• </a:t>
            </a:r>
            <a:r>
              <a:rPr lang="en-US" sz="1500" i="1" dirty="0">
                <a:solidFill>
                  <a:srgbClr val="1B1F24"/>
                </a:solidFill>
                <a:latin typeface="Calibri" pitchFamily="34" charset="0"/>
                <a:ea typeface="Calibri" pitchFamily="34" charset="-122"/>
                <a:cs typeface="Calibri" pitchFamily="34" charset="-120"/>
              </a:rPr>
              <a:t>Context: computer laboratories, libraries, offices and home study desks.</a:t>
            </a:r>
            <a:endParaRPr lang="en-US" sz="1500" dirty="0"/>
          </a:p>
        </p:txBody>
      </p:sp>
      <p:sp>
        <p:nvSpPr>
          <p:cNvPr id="15" name="Shape 13"/>
          <p:cNvSpPr/>
          <p:nvPr/>
        </p:nvSpPr>
        <p:spPr>
          <a:xfrm>
            <a:off x="7040880" y="1737360"/>
            <a:ext cx="4572000" cy="4480560"/>
          </a:xfrm>
          <a:prstGeom prst="roundRect">
            <a:avLst>
              <a:gd name="adj" fmla="val 2041"/>
            </a:avLst>
          </a:prstGeom>
          <a:solidFill>
            <a:srgbClr val="0E1228"/>
          </a:solidFill>
          <a:ln/>
        </p:spPr>
        <p:txBody>
          <a:bodyPr/>
          <a:lstStyle/>
          <a:p>
            <a:endParaRPr lang="en-US" dirty="0"/>
          </a:p>
        </p:txBody>
      </p:sp>
      <p:sp>
        <p:nvSpPr>
          <p:cNvPr id="16" name="Text 14"/>
          <p:cNvSpPr/>
          <p:nvPr/>
        </p:nvSpPr>
        <p:spPr>
          <a:xfrm>
            <a:off x="7315200" y="1965960"/>
            <a:ext cx="4023360" cy="320040"/>
          </a:xfrm>
          <a:prstGeom prst="rect">
            <a:avLst/>
          </a:prstGeom>
          <a:noFill/>
          <a:ln/>
        </p:spPr>
        <p:txBody>
          <a:bodyPr wrap="square" rtlCol="0" anchor="ctr"/>
          <a:lstStyle/>
          <a:p>
            <a:pPr marL="0" indent="0">
              <a:buNone/>
            </a:pPr>
            <a:r>
              <a:rPr lang="en-US" sz="1600" b="1" kern="0" spc="200" dirty="0">
                <a:solidFill>
                  <a:srgbClr val="CADCFC"/>
                </a:solidFill>
                <a:latin typeface="Calibri" pitchFamily="34" charset="0"/>
                <a:ea typeface="Calibri" pitchFamily="34" charset="-122"/>
                <a:cs typeface="Calibri" pitchFamily="34" charset="-120"/>
              </a:rPr>
              <a:t>POINT OF VIEW</a:t>
            </a:r>
            <a:endParaRPr lang="en-US" sz="1600" dirty="0"/>
          </a:p>
        </p:txBody>
      </p:sp>
      <p:sp>
        <p:nvSpPr>
          <p:cNvPr id="17" name="Text 15"/>
          <p:cNvSpPr/>
          <p:nvPr/>
        </p:nvSpPr>
        <p:spPr>
          <a:xfrm>
            <a:off x="7315200" y="2306619"/>
            <a:ext cx="4023360" cy="1380565"/>
          </a:xfrm>
          <a:prstGeom prst="rect">
            <a:avLst/>
          </a:prstGeom>
          <a:noFill/>
          <a:ln/>
        </p:spPr>
        <p:txBody>
          <a:bodyPr wrap="square" rtlCol="0" anchor="ctr"/>
          <a:lstStyle/>
          <a:p>
            <a:pPr marL="0" indent="0">
              <a:lnSpc>
                <a:spcPct val="130000"/>
              </a:lnSpc>
              <a:buNone/>
            </a:pPr>
            <a:r>
              <a:rPr lang="en-US" sz="1500" dirty="0">
                <a:solidFill>
                  <a:srgbClr val="E4EDF5"/>
                </a:solidFill>
                <a:latin typeface="Cambria" pitchFamily="34" charset="0"/>
                <a:ea typeface="Cambria" pitchFamily="34" charset="-122"/>
                <a:cs typeface="Cambria" pitchFamily="34" charset="-120"/>
              </a:rPr>
              <a:t>A computer user needs a simple physical reminder when posture becomes poor, because digital reminders can be ignored or hidden.</a:t>
            </a:r>
            <a:endParaRPr lang="en-US" sz="1500" dirty="0"/>
          </a:p>
        </p:txBody>
      </p:sp>
      <p:sp>
        <p:nvSpPr>
          <p:cNvPr id="18" name="Shape 16"/>
          <p:cNvSpPr/>
          <p:nvPr/>
        </p:nvSpPr>
        <p:spPr>
          <a:xfrm>
            <a:off x="7315200" y="3998260"/>
            <a:ext cx="4023360" cy="0"/>
          </a:xfrm>
          <a:prstGeom prst="line">
            <a:avLst/>
          </a:prstGeom>
          <a:noFill/>
          <a:ln w="12700">
            <a:solidFill>
              <a:srgbClr val="3D4A82"/>
            </a:solidFill>
            <a:prstDash val="solid"/>
          </a:ln>
        </p:spPr>
        <p:txBody>
          <a:bodyPr/>
          <a:lstStyle/>
          <a:p>
            <a:endParaRPr lang="en-US"/>
          </a:p>
        </p:txBody>
      </p:sp>
      <p:sp>
        <p:nvSpPr>
          <p:cNvPr id="19" name="Text 17"/>
          <p:cNvSpPr/>
          <p:nvPr/>
        </p:nvSpPr>
        <p:spPr>
          <a:xfrm>
            <a:off x="7315200" y="4431255"/>
            <a:ext cx="4023360" cy="274320"/>
          </a:xfrm>
          <a:prstGeom prst="rect">
            <a:avLst/>
          </a:prstGeom>
          <a:noFill/>
          <a:ln/>
        </p:spPr>
        <p:txBody>
          <a:bodyPr wrap="square" rtlCol="0" anchor="ctr"/>
          <a:lstStyle/>
          <a:p>
            <a:pPr marL="0" indent="0">
              <a:buNone/>
            </a:pPr>
            <a:r>
              <a:rPr lang="en-US" sz="1600" b="1" dirty="0">
                <a:solidFill>
                  <a:srgbClr val="CADCFC"/>
                </a:solidFill>
                <a:latin typeface="Calibri" pitchFamily="34" charset="0"/>
                <a:ea typeface="Calibri" pitchFamily="34" charset="-122"/>
                <a:cs typeface="Calibri" pitchFamily="34" charset="-120"/>
              </a:rPr>
              <a:t>Why it matters?</a:t>
            </a:r>
            <a:endParaRPr lang="en-US" sz="1600" dirty="0"/>
          </a:p>
        </p:txBody>
      </p:sp>
      <p:sp>
        <p:nvSpPr>
          <p:cNvPr id="20" name="Text 18"/>
          <p:cNvSpPr/>
          <p:nvPr/>
        </p:nvSpPr>
        <p:spPr>
          <a:xfrm>
            <a:off x="7315200" y="4726194"/>
            <a:ext cx="4023360" cy="643665"/>
          </a:xfrm>
          <a:prstGeom prst="rect">
            <a:avLst/>
          </a:prstGeom>
          <a:noFill/>
          <a:ln/>
        </p:spPr>
        <p:txBody>
          <a:bodyPr wrap="square" rtlCol="0" anchor="ctr"/>
          <a:lstStyle/>
          <a:p>
            <a:pPr marL="0" indent="0">
              <a:buNone/>
            </a:pPr>
            <a:r>
              <a:rPr lang="en-US" sz="1500" i="1" dirty="0">
                <a:solidFill>
                  <a:srgbClr val="E4EDF5"/>
                </a:solidFill>
                <a:latin typeface="Calibri" pitchFamily="34" charset="0"/>
                <a:ea typeface="Calibri" pitchFamily="34" charset="-122"/>
                <a:cs typeface="Calibri" pitchFamily="34" charset="-120"/>
              </a:rPr>
              <a:t>A physical reminder can support self-correction without interrupting focused computer work.</a:t>
            </a:r>
            <a:endParaRPr lang="en-US" sz="1500" dirty="0"/>
          </a:p>
        </p:txBody>
      </p:sp>
      <p:sp>
        <p:nvSpPr>
          <p:cNvPr id="23" name="Shape 4">
            <a:extLst>
              <a:ext uri="{FF2B5EF4-FFF2-40B4-BE49-F238E27FC236}">
                <a16:creationId xmlns:a16="http://schemas.microsoft.com/office/drawing/2014/main" id="{E5E32497-8908-36F8-17A8-74445CE5E470}"/>
              </a:ext>
            </a:extLst>
          </p:cNvPr>
          <p:cNvSpPr/>
          <p:nvPr/>
        </p:nvSpPr>
        <p:spPr>
          <a:xfrm>
            <a:off x="8805672" y="502920"/>
            <a:ext cx="2834640" cy="384048"/>
          </a:xfrm>
          <a:prstGeom prst="roundRect">
            <a:avLst>
              <a:gd name="adj" fmla="val 19048"/>
            </a:avLst>
          </a:prstGeom>
          <a:solidFill>
            <a:srgbClr val="F4F7F9"/>
          </a:solidFill>
          <a:ln w="12700">
            <a:solidFill>
              <a:srgbClr val="E1E7EB"/>
            </a:solidFill>
            <a:prstDash val="solid"/>
          </a:ln>
        </p:spPr>
        <p:txBody>
          <a:bodyPr/>
          <a:lstStyle/>
          <a:p>
            <a:endParaRPr lang="en-US"/>
          </a:p>
        </p:txBody>
      </p:sp>
      <p:sp>
        <p:nvSpPr>
          <p:cNvPr id="24" name="Text 5">
            <a:extLst>
              <a:ext uri="{FF2B5EF4-FFF2-40B4-BE49-F238E27FC236}">
                <a16:creationId xmlns:a16="http://schemas.microsoft.com/office/drawing/2014/main" id="{AFF37FC4-B986-125B-CBED-B159754102FF}"/>
              </a:ext>
            </a:extLst>
          </p:cNvPr>
          <p:cNvSpPr/>
          <p:nvPr/>
        </p:nvSpPr>
        <p:spPr>
          <a:xfrm>
            <a:off x="8942832" y="502920"/>
            <a:ext cx="2606040" cy="384048"/>
          </a:xfrm>
          <a:prstGeom prst="rect">
            <a:avLst/>
          </a:prstGeom>
          <a:noFill/>
          <a:ln/>
        </p:spPr>
        <p:txBody>
          <a:bodyPr wrap="square" rtlCol="0" anchor="ctr"/>
          <a:lstStyle/>
          <a:p>
            <a:pPr marL="0" indent="0">
              <a:buNone/>
            </a:pPr>
            <a:r>
              <a:rPr lang="en-US" sz="1100" b="1" dirty="0">
                <a:solidFill>
                  <a:srgbClr val="21295C"/>
                </a:solidFill>
                <a:latin typeface="Calibri" pitchFamily="34" charset="0"/>
                <a:ea typeface="Calibri" pitchFamily="34" charset="-122"/>
                <a:cs typeface="Calibri" pitchFamily="34" charset="-120"/>
              </a:rPr>
              <a:t>Presented by:  </a:t>
            </a:r>
            <a:r>
              <a:rPr lang="en-US" sz="1100" i="1" dirty="0">
                <a:solidFill>
                  <a:srgbClr val="5B6570"/>
                </a:solidFill>
                <a:latin typeface="Calibri" pitchFamily="34" charset="0"/>
                <a:ea typeface="Calibri" pitchFamily="34" charset="-122"/>
                <a:cs typeface="Calibri" pitchFamily="34" charset="-120"/>
              </a:rPr>
              <a:t>2023/ICTS/46</a:t>
            </a:r>
            <a:endParaRPr lang="en-US" sz="1100" dirty="0"/>
          </a:p>
        </p:txBody>
      </p:sp>
      <p:sp>
        <p:nvSpPr>
          <p:cNvPr id="25" name="Shape 16">
            <a:extLst>
              <a:ext uri="{FF2B5EF4-FFF2-40B4-BE49-F238E27FC236}">
                <a16:creationId xmlns:a16="http://schemas.microsoft.com/office/drawing/2014/main" id="{F636DB2D-C596-6B90-D206-B1B171817F46}"/>
              </a:ext>
            </a:extLst>
          </p:cNvPr>
          <p:cNvSpPr/>
          <p:nvPr/>
        </p:nvSpPr>
        <p:spPr>
          <a:xfrm>
            <a:off x="1" y="6472518"/>
            <a:ext cx="12192000" cy="385482"/>
          </a:xfrm>
          <a:prstGeom prst="roundRect">
            <a:avLst>
              <a:gd name="adj" fmla="val 5333"/>
            </a:avLst>
          </a:prstGeom>
          <a:solidFill>
            <a:srgbClr val="0E1228"/>
          </a:solidFill>
          <a:ln/>
        </p:spPr>
        <p:txBody>
          <a:bodyPr/>
          <a:lstStyle/>
          <a:p>
            <a:endParaRPr lang="en-US"/>
          </a:p>
        </p:txBody>
      </p:sp>
      <p:sp>
        <p:nvSpPr>
          <p:cNvPr id="26" name="Text 19">
            <a:extLst>
              <a:ext uri="{FF2B5EF4-FFF2-40B4-BE49-F238E27FC236}">
                <a16:creationId xmlns:a16="http://schemas.microsoft.com/office/drawing/2014/main" id="{C955C872-F79B-2B42-CE42-A9C5356ABFF3}"/>
              </a:ext>
            </a:extLst>
          </p:cNvPr>
          <p:cNvSpPr/>
          <p:nvPr/>
        </p:nvSpPr>
        <p:spPr>
          <a:xfrm>
            <a:off x="548640" y="6537960"/>
            <a:ext cx="7315200" cy="274320"/>
          </a:xfrm>
          <a:prstGeom prst="rect">
            <a:avLst/>
          </a:prstGeom>
          <a:noFill/>
          <a:ln/>
        </p:spPr>
        <p:txBody>
          <a:bodyPr wrap="square" rtlCol="0" anchor="ctr"/>
          <a:lstStyle/>
          <a:p>
            <a:pPr marL="0" indent="0">
              <a:buNone/>
            </a:pPr>
            <a:r>
              <a:rPr lang="en-US" sz="1000" i="1" dirty="0">
                <a:solidFill>
                  <a:schemeClr val="bg1"/>
                </a:solidFill>
                <a:latin typeface="Calibri" pitchFamily="34" charset="0"/>
                <a:ea typeface="Calibri" pitchFamily="34" charset="-122"/>
                <a:cs typeface="Calibri" pitchFamily="34" charset="-120"/>
              </a:rPr>
              <a:t>Section: Conclusion &amp; Demo</a:t>
            </a:r>
            <a:endParaRPr lang="en-US" sz="1000" dirty="0">
              <a:solidFill>
                <a:schemeClr val="bg1"/>
              </a:solidFill>
            </a:endParaRPr>
          </a:p>
        </p:txBody>
      </p:sp>
      <p:sp>
        <p:nvSpPr>
          <p:cNvPr id="27" name="Text 20">
            <a:extLst>
              <a:ext uri="{FF2B5EF4-FFF2-40B4-BE49-F238E27FC236}">
                <a16:creationId xmlns:a16="http://schemas.microsoft.com/office/drawing/2014/main" id="{7B6EC13A-6997-12DE-2546-0F93EF3D4314}"/>
              </a:ext>
            </a:extLst>
          </p:cNvPr>
          <p:cNvSpPr/>
          <p:nvPr/>
        </p:nvSpPr>
        <p:spPr>
          <a:xfrm>
            <a:off x="7434072" y="6537960"/>
            <a:ext cx="4206240" cy="274320"/>
          </a:xfrm>
          <a:prstGeom prst="rect">
            <a:avLst/>
          </a:prstGeom>
          <a:noFill/>
          <a:ln/>
        </p:spPr>
        <p:txBody>
          <a:bodyPr wrap="square" rtlCol="0" anchor="ctr"/>
          <a:lstStyle/>
          <a:p>
            <a:pPr marL="0" indent="0" algn="r">
              <a:buNone/>
            </a:pPr>
            <a:r>
              <a:rPr lang="en-US" sz="1000" dirty="0">
                <a:solidFill>
                  <a:schemeClr val="bg1"/>
                </a:solidFill>
                <a:latin typeface="Calibri" pitchFamily="34" charset="0"/>
                <a:ea typeface="Calibri" pitchFamily="34" charset="-122"/>
                <a:cs typeface="Calibri" pitchFamily="34" charset="-120"/>
              </a:rPr>
              <a:t>TICT 2153 (T) — Human Computer Interaction</a:t>
            </a:r>
            <a:endParaRPr lang="en-US" sz="10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65A82"/>
          </a:solidFill>
          <a:ln/>
        </p:spPr>
        <p:txBody>
          <a:bodyPr/>
          <a:lstStyle/>
          <a:p>
            <a:endParaRPr lang="en-US"/>
          </a:p>
        </p:txBody>
      </p:sp>
      <p:sp>
        <p:nvSpPr>
          <p:cNvPr id="3" name="Text 1"/>
          <p:cNvSpPr/>
          <p:nvPr/>
        </p:nvSpPr>
        <p:spPr>
          <a:xfrm>
            <a:off x="548640" y="502920"/>
            <a:ext cx="457200" cy="45720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4" name="Text 2"/>
          <p:cNvSpPr/>
          <p:nvPr/>
        </p:nvSpPr>
        <p:spPr>
          <a:xfrm>
            <a:off x="1188720" y="411480"/>
            <a:ext cx="7772400" cy="548640"/>
          </a:xfrm>
          <a:prstGeom prst="rect">
            <a:avLst/>
          </a:prstGeom>
          <a:noFill/>
          <a:ln/>
        </p:spPr>
        <p:txBody>
          <a:bodyPr wrap="square" rtlCol="0" anchor="ctr"/>
          <a:lstStyle/>
          <a:p>
            <a:pPr marL="0" indent="0">
              <a:buNone/>
            </a:pPr>
            <a:r>
              <a:rPr lang="en-US" sz="3000" b="1" dirty="0">
                <a:solidFill>
                  <a:srgbClr val="0E1228"/>
                </a:solidFill>
                <a:latin typeface="Cambria" pitchFamily="34" charset="0"/>
                <a:ea typeface="Cambria" pitchFamily="34" charset="-122"/>
                <a:cs typeface="Cambria" pitchFamily="34" charset="-120"/>
              </a:rPr>
              <a:t>Empathise</a:t>
            </a:r>
            <a:endParaRPr lang="en-US" sz="3000" dirty="0">
              <a:solidFill>
                <a:srgbClr val="0E1228"/>
              </a:solidFill>
            </a:endParaRPr>
          </a:p>
        </p:txBody>
      </p:sp>
      <p:sp>
        <p:nvSpPr>
          <p:cNvPr id="5" name="Text 3"/>
          <p:cNvSpPr/>
          <p:nvPr/>
        </p:nvSpPr>
        <p:spPr>
          <a:xfrm>
            <a:off x="1188720" y="914400"/>
            <a:ext cx="7772400" cy="320040"/>
          </a:xfrm>
          <a:prstGeom prst="rect">
            <a:avLst/>
          </a:prstGeom>
          <a:noFill/>
          <a:ln/>
        </p:spPr>
        <p:txBody>
          <a:bodyPr wrap="square"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Understanding our users through observation &amp; interviews</a:t>
            </a:r>
            <a:endParaRPr lang="en-US" sz="1400" dirty="0"/>
          </a:p>
        </p:txBody>
      </p:sp>
      <p:sp>
        <p:nvSpPr>
          <p:cNvPr id="8" name="Shape 6"/>
          <p:cNvSpPr/>
          <p:nvPr/>
        </p:nvSpPr>
        <p:spPr>
          <a:xfrm>
            <a:off x="548640" y="1417320"/>
            <a:ext cx="11091672" cy="0"/>
          </a:xfrm>
          <a:prstGeom prst="line">
            <a:avLst/>
          </a:prstGeom>
          <a:noFill/>
          <a:ln w="12700">
            <a:solidFill>
              <a:srgbClr val="E1E7EB"/>
            </a:solidFill>
            <a:prstDash val="solid"/>
          </a:ln>
        </p:spPr>
        <p:txBody>
          <a:bodyPr/>
          <a:lstStyle/>
          <a:p>
            <a:endParaRPr lang="en-US"/>
          </a:p>
        </p:txBody>
      </p:sp>
      <p:sp>
        <p:nvSpPr>
          <p:cNvPr id="9" name="Shape 7"/>
          <p:cNvSpPr/>
          <p:nvPr/>
        </p:nvSpPr>
        <p:spPr>
          <a:xfrm>
            <a:off x="548640" y="1737360"/>
            <a:ext cx="6309360" cy="4480560"/>
          </a:xfrm>
          <a:prstGeom prst="roundRect">
            <a:avLst>
              <a:gd name="adj" fmla="val 2041"/>
            </a:avLst>
          </a:prstGeom>
          <a:solidFill>
            <a:srgbClr val="F4F7F9"/>
          </a:solidFill>
          <a:ln w="12700">
            <a:solidFill>
              <a:srgbClr val="E1E7EB"/>
            </a:solidFill>
            <a:prstDash val="solid"/>
          </a:ln>
        </p:spPr>
        <p:txBody>
          <a:bodyPr/>
          <a:lstStyle/>
          <a:p>
            <a:endParaRPr lang="en-US"/>
          </a:p>
        </p:txBody>
      </p:sp>
      <p:sp>
        <p:nvSpPr>
          <p:cNvPr id="10" name="Text 8"/>
          <p:cNvSpPr/>
          <p:nvPr/>
        </p:nvSpPr>
        <p:spPr>
          <a:xfrm>
            <a:off x="822960" y="1920240"/>
            <a:ext cx="5760720" cy="365760"/>
          </a:xfrm>
          <a:prstGeom prst="rect">
            <a:avLst/>
          </a:prstGeom>
          <a:noFill/>
          <a:ln/>
        </p:spPr>
        <p:txBody>
          <a:bodyPr wrap="square" rtlCol="0" anchor="ctr"/>
          <a:lstStyle/>
          <a:p>
            <a:pPr marL="0" indent="0">
              <a:buNone/>
            </a:pPr>
            <a:r>
              <a:rPr lang="en-US" b="1" dirty="0">
                <a:solidFill>
                  <a:srgbClr val="21295C"/>
                </a:solidFill>
                <a:latin typeface="Cambria" pitchFamily="34" charset="0"/>
                <a:ea typeface="Cambria" pitchFamily="34" charset="-122"/>
                <a:cs typeface="Cambria" pitchFamily="34" charset="-120"/>
              </a:rPr>
              <a:t>Key User Insights</a:t>
            </a:r>
            <a:endParaRPr lang="en-US" dirty="0"/>
          </a:p>
        </p:txBody>
      </p:sp>
      <p:sp>
        <p:nvSpPr>
          <p:cNvPr id="11" name="Text 9"/>
          <p:cNvSpPr/>
          <p:nvPr/>
        </p:nvSpPr>
        <p:spPr>
          <a:xfrm>
            <a:off x="822960" y="2688336"/>
            <a:ext cx="5760720" cy="2194560"/>
          </a:xfrm>
          <a:prstGeom prst="rect">
            <a:avLst/>
          </a:prstGeom>
          <a:noFill/>
          <a:ln/>
        </p:spPr>
        <p:txBody>
          <a:bodyPr wrap="square" rtlCol="0" anchor="ctr"/>
          <a:lstStyle/>
          <a:p>
            <a:pPr marL="0" indent="0">
              <a:lnSpc>
                <a:spcPct val="130000"/>
              </a:lnSpc>
              <a:buNone/>
            </a:pPr>
            <a:r>
              <a:rPr lang="en-US" sz="1500" i="1" dirty="0">
                <a:solidFill>
                  <a:srgbClr val="1B1F24"/>
                </a:solidFill>
                <a:latin typeface="Calibri" pitchFamily="34" charset="0"/>
                <a:ea typeface="Calibri" pitchFamily="34" charset="-122"/>
                <a:cs typeface="Calibri" pitchFamily="34" charset="-120"/>
              </a:rPr>
              <a:t>Proposal-based user insights:</a:t>
            </a:r>
          </a:p>
          <a:p>
            <a:pPr marL="0" indent="0">
              <a:lnSpc>
                <a:spcPct val="130000"/>
              </a:lnSpc>
              <a:buNone/>
            </a:pPr>
            <a:r>
              <a:rPr lang="en-US" sz="1500" i="1" dirty="0">
                <a:solidFill>
                  <a:srgbClr val="1B1F24"/>
                </a:solidFill>
                <a:latin typeface="Calibri" pitchFamily="34" charset="0"/>
                <a:ea typeface="Calibri" pitchFamily="34" charset="-122"/>
                <a:cs typeface="Calibri" pitchFamily="34" charset="-120"/>
              </a:rPr>
              <a:t>• Users may remain seated at computers for more than 4 hours.</a:t>
            </a:r>
          </a:p>
          <a:p>
            <a:pPr marL="0" indent="0">
              <a:lnSpc>
                <a:spcPct val="130000"/>
              </a:lnSpc>
              <a:buNone/>
            </a:pPr>
            <a:r>
              <a:rPr lang="en-US" sz="1500" i="1" dirty="0">
                <a:solidFill>
                  <a:srgbClr val="1B1F24"/>
                </a:solidFill>
                <a:latin typeface="Calibri" pitchFamily="34" charset="0"/>
                <a:ea typeface="Calibri" pitchFamily="34" charset="-122"/>
                <a:cs typeface="Calibri" pitchFamily="34" charset="-120"/>
              </a:rPr>
              <a:t>• Slouching and leaning forward can occur subconsciously.</a:t>
            </a:r>
          </a:p>
          <a:p>
            <a:pPr marL="0" indent="0">
              <a:lnSpc>
                <a:spcPct val="130000"/>
              </a:lnSpc>
              <a:buNone/>
            </a:pPr>
            <a:r>
              <a:rPr lang="en-US" sz="1500" i="1" dirty="0">
                <a:solidFill>
                  <a:srgbClr val="1B1F24"/>
                </a:solidFill>
                <a:latin typeface="Calibri" pitchFamily="34" charset="0"/>
                <a:ea typeface="Calibri" pitchFamily="34" charset="-122"/>
                <a:cs typeface="Calibri" pitchFamily="34" charset="-120"/>
              </a:rPr>
              <a:t>• Users need a reminder that does not interrupt focused work.</a:t>
            </a:r>
          </a:p>
          <a:p>
            <a:pPr marL="0" indent="0">
              <a:lnSpc>
                <a:spcPct val="130000"/>
              </a:lnSpc>
              <a:buNone/>
            </a:pPr>
            <a:r>
              <a:rPr lang="en-US" sz="1500" i="1" dirty="0">
                <a:solidFill>
                  <a:srgbClr val="1B1F24"/>
                </a:solidFill>
                <a:latin typeface="Calibri" pitchFamily="34" charset="0"/>
                <a:ea typeface="Calibri" pitchFamily="34" charset="-122"/>
                <a:cs typeface="Calibri" pitchFamily="34" charset="-120"/>
              </a:rPr>
              <a:t>• Desktop/mobile notifications can be dismissed, muted or hidden.</a:t>
            </a:r>
          </a:p>
          <a:p>
            <a:pPr marL="0" indent="0">
              <a:lnSpc>
                <a:spcPct val="130000"/>
              </a:lnSpc>
              <a:buNone/>
            </a:pPr>
            <a:r>
              <a:rPr lang="en-US" sz="1500" i="1" dirty="0">
                <a:solidFill>
                  <a:srgbClr val="1B1F24"/>
                </a:solidFill>
                <a:latin typeface="Calibri" pitchFamily="34" charset="0"/>
                <a:ea typeface="Calibri" pitchFamily="34" charset="-122"/>
                <a:cs typeface="Calibri" pitchFamily="34" charset="-120"/>
              </a:rPr>
              <a:t>• A physical desk object can provide an ambient, visible prompt.</a:t>
            </a:r>
          </a:p>
        </p:txBody>
      </p:sp>
      <p:sp>
        <p:nvSpPr>
          <p:cNvPr id="16" name="Shape 14"/>
          <p:cNvSpPr/>
          <p:nvPr/>
        </p:nvSpPr>
        <p:spPr>
          <a:xfrm>
            <a:off x="7040880" y="1737360"/>
            <a:ext cx="4572000" cy="4480560"/>
          </a:xfrm>
          <a:prstGeom prst="roundRect">
            <a:avLst>
              <a:gd name="adj" fmla="val 2041"/>
            </a:avLst>
          </a:prstGeom>
          <a:solidFill>
            <a:srgbClr val="065A82"/>
          </a:solidFill>
          <a:ln/>
        </p:spPr>
        <p:txBody>
          <a:bodyPr/>
          <a:lstStyle/>
          <a:p>
            <a:endParaRPr lang="en-US"/>
          </a:p>
        </p:txBody>
      </p:sp>
      <p:sp>
        <p:nvSpPr>
          <p:cNvPr id="17" name="Text 15"/>
          <p:cNvSpPr/>
          <p:nvPr/>
        </p:nvSpPr>
        <p:spPr>
          <a:xfrm>
            <a:off x="7315200" y="1965960"/>
            <a:ext cx="402336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Research Methods Used</a:t>
            </a:r>
            <a:endParaRPr lang="en-US" sz="1600" dirty="0"/>
          </a:p>
        </p:txBody>
      </p:sp>
      <p:sp>
        <p:nvSpPr>
          <p:cNvPr id="18" name="Shape 16"/>
          <p:cNvSpPr/>
          <p:nvPr/>
        </p:nvSpPr>
        <p:spPr>
          <a:xfrm>
            <a:off x="7315200" y="2523744"/>
            <a:ext cx="128016" cy="128016"/>
          </a:xfrm>
          <a:prstGeom prst="ellipse">
            <a:avLst/>
          </a:prstGeom>
          <a:solidFill>
            <a:srgbClr val="9FD8D0"/>
          </a:solidFill>
          <a:ln/>
        </p:spPr>
        <p:txBody>
          <a:bodyPr/>
          <a:lstStyle/>
          <a:p>
            <a:endParaRPr lang="en-US"/>
          </a:p>
        </p:txBody>
      </p:sp>
      <p:sp>
        <p:nvSpPr>
          <p:cNvPr id="19" name="Text 17"/>
          <p:cNvSpPr/>
          <p:nvPr/>
        </p:nvSpPr>
        <p:spPr>
          <a:xfrm>
            <a:off x="7571232" y="2395728"/>
            <a:ext cx="3749040" cy="502920"/>
          </a:xfrm>
          <a:prstGeom prst="rect">
            <a:avLst/>
          </a:prstGeom>
          <a:noFill/>
          <a:ln/>
        </p:spPr>
        <p:txBody>
          <a:bodyPr wrap="square" rtlCol="0" anchor="ctr"/>
          <a:lstStyle/>
          <a:p>
            <a:pPr marL="0" indent="0">
              <a:buNone/>
            </a:pPr>
            <a:r>
              <a:rPr lang="en-US" sz="1500" dirty="0">
                <a:solidFill>
                  <a:srgbClr val="EAF3F7"/>
                </a:solidFill>
                <a:latin typeface="Calibri" pitchFamily="34" charset="0"/>
                <a:ea typeface="Calibri" pitchFamily="34" charset="-122"/>
                <a:cs typeface="Calibri" pitchFamily="34" charset="-120"/>
              </a:rPr>
              <a:t>Problem/context analysis</a:t>
            </a:r>
            <a:endParaRPr lang="en-US" sz="1500" dirty="0"/>
          </a:p>
        </p:txBody>
      </p:sp>
      <p:sp>
        <p:nvSpPr>
          <p:cNvPr id="20" name="Shape 18"/>
          <p:cNvSpPr/>
          <p:nvPr/>
        </p:nvSpPr>
        <p:spPr>
          <a:xfrm>
            <a:off x="7315200" y="3090672"/>
            <a:ext cx="128016" cy="128016"/>
          </a:xfrm>
          <a:prstGeom prst="ellipse">
            <a:avLst/>
          </a:prstGeom>
          <a:solidFill>
            <a:srgbClr val="9FD8D0"/>
          </a:solidFill>
          <a:ln/>
        </p:spPr>
        <p:txBody>
          <a:bodyPr/>
          <a:lstStyle/>
          <a:p>
            <a:endParaRPr lang="en-US"/>
          </a:p>
        </p:txBody>
      </p:sp>
      <p:sp>
        <p:nvSpPr>
          <p:cNvPr id="21" name="Text 19"/>
          <p:cNvSpPr/>
          <p:nvPr/>
        </p:nvSpPr>
        <p:spPr>
          <a:xfrm>
            <a:off x="7571232" y="2962656"/>
            <a:ext cx="3749040" cy="502920"/>
          </a:xfrm>
          <a:prstGeom prst="rect">
            <a:avLst/>
          </a:prstGeom>
          <a:noFill/>
          <a:ln/>
        </p:spPr>
        <p:txBody>
          <a:bodyPr wrap="square" rtlCol="0" anchor="ctr"/>
          <a:lstStyle/>
          <a:p>
            <a:pPr marL="0" indent="0">
              <a:buNone/>
            </a:pPr>
            <a:r>
              <a:rPr lang="en-US" sz="1500" dirty="0">
                <a:solidFill>
                  <a:srgbClr val="EAF3F7"/>
                </a:solidFill>
                <a:latin typeface="Calibri" pitchFamily="34" charset="0"/>
                <a:ea typeface="Calibri" pitchFamily="34" charset="-122"/>
                <a:cs typeface="Calibri" pitchFamily="34" charset="-120"/>
              </a:rPr>
              <a:t>Target-user definition</a:t>
            </a:r>
            <a:endParaRPr lang="en-US" sz="1500" dirty="0"/>
          </a:p>
        </p:txBody>
      </p:sp>
      <p:sp>
        <p:nvSpPr>
          <p:cNvPr id="22" name="Shape 20"/>
          <p:cNvSpPr/>
          <p:nvPr/>
        </p:nvSpPr>
        <p:spPr>
          <a:xfrm>
            <a:off x="7315200" y="3657600"/>
            <a:ext cx="128016" cy="128016"/>
          </a:xfrm>
          <a:prstGeom prst="ellipse">
            <a:avLst/>
          </a:prstGeom>
          <a:solidFill>
            <a:srgbClr val="9FD8D0"/>
          </a:solidFill>
          <a:ln/>
        </p:spPr>
        <p:txBody>
          <a:bodyPr/>
          <a:lstStyle/>
          <a:p>
            <a:endParaRPr lang="en-US"/>
          </a:p>
        </p:txBody>
      </p:sp>
      <p:sp>
        <p:nvSpPr>
          <p:cNvPr id="23" name="Text 21"/>
          <p:cNvSpPr/>
          <p:nvPr/>
        </p:nvSpPr>
        <p:spPr>
          <a:xfrm>
            <a:off x="7571232" y="3529584"/>
            <a:ext cx="3749040" cy="502920"/>
          </a:xfrm>
          <a:prstGeom prst="rect">
            <a:avLst/>
          </a:prstGeom>
          <a:noFill/>
          <a:ln/>
        </p:spPr>
        <p:txBody>
          <a:bodyPr wrap="square" rtlCol="0" anchor="ctr"/>
          <a:lstStyle/>
          <a:p>
            <a:pPr marL="0" indent="0">
              <a:buNone/>
            </a:pPr>
            <a:r>
              <a:rPr lang="en-US" sz="1500" dirty="0">
                <a:solidFill>
                  <a:srgbClr val="EAF3F7"/>
                </a:solidFill>
                <a:latin typeface="Calibri" pitchFamily="34" charset="0"/>
                <a:ea typeface="Calibri" pitchFamily="34" charset="-122"/>
                <a:cs typeface="Calibri" pitchFamily="34" charset="-120"/>
              </a:rPr>
              <a:t>Ergonomic use-case analysis</a:t>
            </a:r>
          </a:p>
        </p:txBody>
      </p:sp>
      <p:sp>
        <p:nvSpPr>
          <p:cNvPr id="24" name="Shape 22"/>
          <p:cNvSpPr/>
          <p:nvPr/>
        </p:nvSpPr>
        <p:spPr>
          <a:xfrm>
            <a:off x="7315200" y="4224528"/>
            <a:ext cx="128016" cy="128016"/>
          </a:xfrm>
          <a:prstGeom prst="ellipse">
            <a:avLst/>
          </a:prstGeom>
          <a:solidFill>
            <a:srgbClr val="9FD8D0"/>
          </a:solidFill>
          <a:ln/>
        </p:spPr>
        <p:txBody>
          <a:bodyPr/>
          <a:lstStyle/>
          <a:p>
            <a:endParaRPr lang="en-US"/>
          </a:p>
        </p:txBody>
      </p:sp>
      <p:sp>
        <p:nvSpPr>
          <p:cNvPr id="25" name="Text 23"/>
          <p:cNvSpPr/>
          <p:nvPr/>
        </p:nvSpPr>
        <p:spPr>
          <a:xfrm>
            <a:off x="7571232" y="4096512"/>
            <a:ext cx="3749040" cy="502920"/>
          </a:xfrm>
          <a:prstGeom prst="rect">
            <a:avLst/>
          </a:prstGeom>
          <a:noFill/>
          <a:ln/>
        </p:spPr>
        <p:txBody>
          <a:bodyPr wrap="square" rtlCol="0" anchor="ctr"/>
          <a:lstStyle/>
          <a:p>
            <a:pPr marL="0" indent="0">
              <a:buNone/>
            </a:pPr>
            <a:r>
              <a:rPr lang="en-US" sz="1500" dirty="0">
                <a:solidFill>
                  <a:srgbClr val="EAF3F7"/>
                </a:solidFill>
                <a:latin typeface="Calibri" pitchFamily="34" charset="0"/>
                <a:ea typeface="Calibri" pitchFamily="34" charset="-122"/>
                <a:cs typeface="Calibri" pitchFamily="34" charset="-120"/>
              </a:rPr>
              <a:t>Proposal evidence &amp; product sketch</a:t>
            </a:r>
          </a:p>
        </p:txBody>
      </p:sp>
      <p:sp>
        <p:nvSpPr>
          <p:cNvPr id="28" name="Shape 4">
            <a:extLst>
              <a:ext uri="{FF2B5EF4-FFF2-40B4-BE49-F238E27FC236}">
                <a16:creationId xmlns:a16="http://schemas.microsoft.com/office/drawing/2014/main" id="{A9455588-03FC-12F0-4085-8286BF6D0291}"/>
              </a:ext>
            </a:extLst>
          </p:cNvPr>
          <p:cNvSpPr/>
          <p:nvPr/>
        </p:nvSpPr>
        <p:spPr>
          <a:xfrm>
            <a:off x="8805672" y="502920"/>
            <a:ext cx="2834640" cy="384048"/>
          </a:xfrm>
          <a:prstGeom prst="roundRect">
            <a:avLst>
              <a:gd name="adj" fmla="val 19048"/>
            </a:avLst>
          </a:prstGeom>
          <a:solidFill>
            <a:srgbClr val="F4F7F9"/>
          </a:solidFill>
          <a:ln w="12700">
            <a:solidFill>
              <a:srgbClr val="E1E7EB"/>
            </a:solidFill>
            <a:prstDash val="solid"/>
          </a:ln>
        </p:spPr>
        <p:txBody>
          <a:bodyPr/>
          <a:lstStyle/>
          <a:p>
            <a:endParaRPr lang="en-US"/>
          </a:p>
        </p:txBody>
      </p:sp>
      <p:sp>
        <p:nvSpPr>
          <p:cNvPr id="29" name="Text 5">
            <a:extLst>
              <a:ext uri="{FF2B5EF4-FFF2-40B4-BE49-F238E27FC236}">
                <a16:creationId xmlns:a16="http://schemas.microsoft.com/office/drawing/2014/main" id="{960777FB-A690-9C8A-4FD0-079885B0CF61}"/>
              </a:ext>
            </a:extLst>
          </p:cNvPr>
          <p:cNvSpPr/>
          <p:nvPr/>
        </p:nvSpPr>
        <p:spPr>
          <a:xfrm>
            <a:off x="8942832" y="502920"/>
            <a:ext cx="2606040" cy="384048"/>
          </a:xfrm>
          <a:prstGeom prst="rect">
            <a:avLst/>
          </a:prstGeom>
          <a:noFill/>
          <a:ln/>
        </p:spPr>
        <p:txBody>
          <a:bodyPr wrap="square" rtlCol="0" anchor="ctr"/>
          <a:lstStyle/>
          <a:p>
            <a:pPr marL="0" indent="0">
              <a:buNone/>
            </a:pPr>
            <a:r>
              <a:rPr lang="en-US" sz="1100" b="1" dirty="0">
                <a:solidFill>
                  <a:srgbClr val="21295C"/>
                </a:solidFill>
                <a:latin typeface="Calibri" pitchFamily="34" charset="0"/>
                <a:ea typeface="Calibri" pitchFamily="34" charset="-122"/>
                <a:cs typeface="Calibri" pitchFamily="34" charset="-120"/>
              </a:rPr>
              <a:t>Presented by:  </a:t>
            </a:r>
            <a:r>
              <a:rPr lang="en-US" sz="1100" i="1" dirty="0">
                <a:solidFill>
                  <a:srgbClr val="5B6570"/>
                </a:solidFill>
                <a:latin typeface="Calibri" pitchFamily="34" charset="0"/>
                <a:ea typeface="Calibri" pitchFamily="34" charset="-122"/>
                <a:cs typeface="Calibri" pitchFamily="34" charset="-120"/>
              </a:rPr>
              <a:t>2023/ICTS/45</a:t>
            </a:r>
            <a:endParaRPr lang="en-US" sz="1100" dirty="0"/>
          </a:p>
        </p:txBody>
      </p:sp>
      <p:sp>
        <p:nvSpPr>
          <p:cNvPr id="30" name="Shape 16">
            <a:extLst>
              <a:ext uri="{FF2B5EF4-FFF2-40B4-BE49-F238E27FC236}">
                <a16:creationId xmlns:a16="http://schemas.microsoft.com/office/drawing/2014/main" id="{B373365B-0063-8716-D2C4-5A61198698C2}"/>
              </a:ext>
            </a:extLst>
          </p:cNvPr>
          <p:cNvSpPr/>
          <p:nvPr/>
        </p:nvSpPr>
        <p:spPr>
          <a:xfrm>
            <a:off x="1" y="6472518"/>
            <a:ext cx="12192000" cy="385482"/>
          </a:xfrm>
          <a:prstGeom prst="roundRect">
            <a:avLst>
              <a:gd name="adj" fmla="val 5333"/>
            </a:avLst>
          </a:prstGeom>
          <a:solidFill>
            <a:srgbClr val="0E1228"/>
          </a:solidFill>
          <a:ln/>
        </p:spPr>
        <p:txBody>
          <a:bodyPr/>
          <a:lstStyle/>
          <a:p>
            <a:endParaRPr lang="en-US"/>
          </a:p>
        </p:txBody>
      </p:sp>
      <p:sp>
        <p:nvSpPr>
          <p:cNvPr id="31" name="Text 19">
            <a:extLst>
              <a:ext uri="{FF2B5EF4-FFF2-40B4-BE49-F238E27FC236}">
                <a16:creationId xmlns:a16="http://schemas.microsoft.com/office/drawing/2014/main" id="{1A271251-12E7-AA63-BD91-820399971558}"/>
              </a:ext>
            </a:extLst>
          </p:cNvPr>
          <p:cNvSpPr/>
          <p:nvPr/>
        </p:nvSpPr>
        <p:spPr>
          <a:xfrm>
            <a:off x="548640" y="6537960"/>
            <a:ext cx="7315200" cy="274320"/>
          </a:xfrm>
          <a:prstGeom prst="rect">
            <a:avLst/>
          </a:prstGeom>
          <a:noFill/>
          <a:ln/>
        </p:spPr>
        <p:txBody>
          <a:bodyPr wrap="square" rtlCol="0" anchor="ctr"/>
          <a:lstStyle/>
          <a:p>
            <a:pPr marL="0" indent="0">
              <a:buNone/>
            </a:pPr>
            <a:r>
              <a:rPr lang="en-US" sz="1000" i="1" dirty="0">
                <a:solidFill>
                  <a:schemeClr val="bg1"/>
                </a:solidFill>
                <a:latin typeface="Calibri" pitchFamily="34" charset="0"/>
                <a:ea typeface="Calibri" pitchFamily="34" charset="-122"/>
                <a:cs typeface="Calibri" pitchFamily="34" charset="-120"/>
              </a:rPr>
              <a:t>Section: Conclusion &amp; Demo</a:t>
            </a:r>
            <a:endParaRPr lang="en-US" sz="1000" dirty="0">
              <a:solidFill>
                <a:schemeClr val="bg1"/>
              </a:solidFill>
            </a:endParaRPr>
          </a:p>
        </p:txBody>
      </p:sp>
      <p:sp>
        <p:nvSpPr>
          <p:cNvPr id="32" name="Text 20">
            <a:extLst>
              <a:ext uri="{FF2B5EF4-FFF2-40B4-BE49-F238E27FC236}">
                <a16:creationId xmlns:a16="http://schemas.microsoft.com/office/drawing/2014/main" id="{2994B610-CD04-0900-0825-05F97BAB0152}"/>
              </a:ext>
            </a:extLst>
          </p:cNvPr>
          <p:cNvSpPr/>
          <p:nvPr/>
        </p:nvSpPr>
        <p:spPr>
          <a:xfrm>
            <a:off x="7434072" y="6537960"/>
            <a:ext cx="4206240" cy="274320"/>
          </a:xfrm>
          <a:prstGeom prst="rect">
            <a:avLst/>
          </a:prstGeom>
          <a:noFill/>
          <a:ln/>
        </p:spPr>
        <p:txBody>
          <a:bodyPr wrap="square" rtlCol="0" anchor="ctr"/>
          <a:lstStyle/>
          <a:p>
            <a:pPr marL="0" indent="0" algn="r">
              <a:buNone/>
            </a:pPr>
            <a:r>
              <a:rPr lang="en-US" sz="1000" dirty="0">
                <a:solidFill>
                  <a:schemeClr val="bg1"/>
                </a:solidFill>
                <a:latin typeface="Calibri" pitchFamily="34" charset="0"/>
                <a:ea typeface="Calibri" pitchFamily="34" charset="-122"/>
                <a:cs typeface="Calibri" pitchFamily="34" charset="-120"/>
              </a:rPr>
              <a:t>TICT 2153 (T) — Human Computer Interaction</a:t>
            </a:r>
            <a:endParaRPr lang="en-US" sz="100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65A82"/>
          </a:solidFill>
          <a:ln/>
        </p:spPr>
        <p:txBody>
          <a:bodyPr/>
          <a:lstStyle/>
          <a:p>
            <a:endParaRPr lang="en-US"/>
          </a:p>
        </p:txBody>
      </p:sp>
      <p:sp>
        <p:nvSpPr>
          <p:cNvPr id="3" name="Text 1"/>
          <p:cNvSpPr/>
          <p:nvPr/>
        </p:nvSpPr>
        <p:spPr>
          <a:xfrm>
            <a:off x="548640" y="502920"/>
            <a:ext cx="457200" cy="45720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4" name="Text 2"/>
          <p:cNvSpPr/>
          <p:nvPr/>
        </p:nvSpPr>
        <p:spPr>
          <a:xfrm>
            <a:off x="1188720" y="411480"/>
            <a:ext cx="7772400" cy="548640"/>
          </a:xfrm>
          <a:prstGeom prst="rect">
            <a:avLst/>
          </a:prstGeom>
          <a:noFill/>
          <a:ln/>
        </p:spPr>
        <p:txBody>
          <a:bodyPr wrap="square" rtlCol="0" anchor="ctr"/>
          <a:lstStyle/>
          <a:p>
            <a:pPr marL="0" indent="0">
              <a:buNone/>
            </a:pPr>
            <a:r>
              <a:rPr lang="en-US" sz="3000" b="1" dirty="0">
                <a:solidFill>
                  <a:srgbClr val="0E1228"/>
                </a:solidFill>
                <a:latin typeface="Cambria" pitchFamily="34" charset="0"/>
                <a:ea typeface="Cambria" pitchFamily="34" charset="-122"/>
                <a:cs typeface="Cambria" pitchFamily="34" charset="-120"/>
              </a:rPr>
              <a:t>Define</a:t>
            </a:r>
            <a:endParaRPr lang="en-US" sz="3000" dirty="0">
              <a:solidFill>
                <a:srgbClr val="0E1228"/>
              </a:solidFill>
            </a:endParaRPr>
          </a:p>
        </p:txBody>
      </p:sp>
      <p:sp>
        <p:nvSpPr>
          <p:cNvPr id="5" name="Text 3"/>
          <p:cNvSpPr/>
          <p:nvPr/>
        </p:nvSpPr>
        <p:spPr>
          <a:xfrm>
            <a:off x="1188720" y="914400"/>
            <a:ext cx="7772400" cy="320040"/>
          </a:xfrm>
          <a:prstGeom prst="rect">
            <a:avLst/>
          </a:prstGeom>
          <a:noFill/>
          <a:ln/>
        </p:spPr>
        <p:txBody>
          <a:bodyPr wrap="square"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Framing the core problem worth solving</a:t>
            </a:r>
            <a:endParaRPr lang="en-US" sz="1400" dirty="0"/>
          </a:p>
        </p:txBody>
      </p:sp>
      <p:sp>
        <p:nvSpPr>
          <p:cNvPr id="8" name="Shape 6"/>
          <p:cNvSpPr/>
          <p:nvPr/>
        </p:nvSpPr>
        <p:spPr>
          <a:xfrm>
            <a:off x="548640" y="1417320"/>
            <a:ext cx="11091672" cy="0"/>
          </a:xfrm>
          <a:prstGeom prst="line">
            <a:avLst/>
          </a:prstGeom>
          <a:noFill/>
          <a:ln w="12700">
            <a:solidFill>
              <a:srgbClr val="E1E7EB"/>
            </a:solidFill>
            <a:prstDash val="solid"/>
          </a:ln>
        </p:spPr>
        <p:txBody>
          <a:bodyPr/>
          <a:lstStyle/>
          <a:p>
            <a:endParaRPr lang="en-US"/>
          </a:p>
        </p:txBody>
      </p:sp>
      <p:sp>
        <p:nvSpPr>
          <p:cNvPr id="9" name="Shape 7"/>
          <p:cNvSpPr/>
          <p:nvPr/>
        </p:nvSpPr>
        <p:spPr>
          <a:xfrm>
            <a:off x="548640" y="1737360"/>
            <a:ext cx="6309360" cy="4480560"/>
          </a:xfrm>
          <a:prstGeom prst="roundRect">
            <a:avLst>
              <a:gd name="adj" fmla="val 2041"/>
            </a:avLst>
          </a:prstGeom>
          <a:solidFill>
            <a:srgbClr val="F4F7F9"/>
          </a:solidFill>
          <a:ln w="12700">
            <a:solidFill>
              <a:srgbClr val="E1E7EB"/>
            </a:solidFill>
            <a:prstDash val="solid"/>
          </a:ln>
        </p:spPr>
        <p:txBody>
          <a:bodyPr/>
          <a:lstStyle/>
          <a:p>
            <a:endParaRPr lang="en-US"/>
          </a:p>
        </p:txBody>
      </p:sp>
      <p:sp>
        <p:nvSpPr>
          <p:cNvPr id="10" name="Text 8"/>
          <p:cNvSpPr/>
          <p:nvPr/>
        </p:nvSpPr>
        <p:spPr>
          <a:xfrm>
            <a:off x="822960" y="1920240"/>
            <a:ext cx="5760720" cy="365760"/>
          </a:xfrm>
          <a:prstGeom prst="rect">
            <a:avLst/>
          </a:prstGeom>
          <a:noFill/>
          <a:ln/>
        </p:spPr>
        <p:txBody>
          <a:bodyPr wrap="square" rtlCol="0" anchor="ctr"/>
          <a:lstStyle/>
          <a:p>
            <a:pPr marL="0" indent="0">
              <a:buNone/>
            </a:pPr>
            <a:r>
              <a:rPr lang="en-US" b="1" dirty="0">
                <a:solidFill>
                  <a:srgbClr val="21295C"/>
                </a:solidFill>
                <a:latin typeface="Cambria" pitchFamily="34" charset="0"/>
                <a:ea typeface="Cambria" pitchFamily="34" charset="-122"/>
                <a:cs typeface="Cambria" pitchFamily="34" charset="-120"/>
              </a:rPr>
              <a:t>Problem Statement (recap)</a:t>
            </a:r>
            <a:endParaRPr lang="en-US" dirty="0"/>
          </a:p>
        </p:txBody>
      </p:sp>
      <p:sp>
        <p:nvSpPr>
          <p:cNvPr id="11" name="Text 9"/>
          <p:cNvSpPr/>
          <p:nvPr/>
        </p:nvSpPr>
        <p:spPr>
          <a:xfrm>
            <a:off x="822960" y="2582463"/>
            <a:ext cx="5760720" cy="2194560"/>
          </a:xfrm>
          <a:prstGeom prst="rect">
            <a:avLst/>
          </a:prstGeom>
          <a:noFill/>
          <a:ln/>
        </p:spPr>
        <p:txBody>
          <a:bodyPr wrap="square" rtlCol="0" anchor="ctr"/>
          <a:lstStyle/>
          <a:p>
            <a:pPr marL="0" indent="0">
              <a:lnSpc>
                <a:spcPct val="130000"/>
              </a:lnSpc>
              <a:buNone/>
            </a:pPr>
            <a:r>
              <a:rPr lang="en-US" sz="1500" i="1" dirty="0">
                <a:solidFill>
                  <a:srgbClr val="1B1F24"/>
                </a:solidFill>
                <a:latin typeface="Calibri" pitchFamily="34" charset="0"/>
                <a:ea typeface="Calibri" pitchFamily="34" charset="-122"/>
                <a:cs typeface="Calibri" pitchFamily="34" charset="-120"/>
              </a:rPr>
              <a:t>Users who spend long hours at computers need a reminder that helps them correct poor posture without the interruption of software notifications.</a:t>
            </a:r>
            <a:endParaRPr lang="en-US" sz="1500" dirty="0"/>
          </a:p>
        </p:txBody>
      </p:sp>
      <p:sp>
        <p:nvSpPr>
          <p:cNvPr id="16" name="Shape 14"/>
          <p:cNvSpPr/>
          <p:nvPr/>
        </p:nvSpPr>
        <p:spPr>
          <a:xfrm>
            <a:off x="7040880" y="1737360"/>
            <a:ext cx="4572000" cy="4480560"/>
          </a:xfrm>
          <a:prstGeom prst="roundRect">
            <a:avLst>
              <a:gd name="adj" fmla="val 2041"/>
            </a:avLst>
          </a:prstGeom>
          <a:solidFill>
            <a:srgbClr val="065A82"/>
          </a:solidFill>
          <a:ln/>
        </p:spPr>
        <p:txBody>
          <a:bodyPr/>
          <a:lstStyle/>
          <a:p>
            <a:endParaRPr lang="en-US"/>
          </a:p>
        </p:txBody>
      </p:sp>
      <p:sp>
        <p:nvSpPr>
          <p:cNvPr id="17" name="Text 15"/>
          <p:cNvSpPr/>
          <p:nvPr/>
        </p:nvSpPr>
        <p:spPr>
          <a:xfrm>
            <a:off x="7315200" y="1965960"/>
            <a:ext cx="402336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POV Statement</a:t>
            </a:r>
            <a:endParaRPr lang="en-US" sz="1600" dirty="0"/>
          </a:p>
        </p:txBody>
      </p:sp>
      <p:sp>
        <p:nvSpPr>
          <p:cNvPr id="18" name="Shape 16"/>
          <p:cNvSpPr/>
          <p:nvPr/>
        </p:nvSpPr>
        <p:spPr>
          <a:xfrm>
            <a:off x="7315200" y="2523744"/>
            <a:ext cx="128016" cy="128016"/>
          </a:xfrm>
          <a:prstGeom prst="ellipse">
            <a:avLst/>
          </a:prstGeom>
          <a:solidFill>
            <a:srgbClr val="9FD8D0"/>
          </a:solidFill>
          <a:ln/>
        </p:spPr>
        <p:txBody>
          <a:bodyPr/>
          <a:lstStyle/>
          <a:p>
            <a:endParaRPr lang="en-US"/>
          </a:p>
        </p:txBody>
      </p:sp>
      <p:sp>
        <p:nvSpPr>
          <p:cNvPr id="19" name="Text 17"/>
          <p:cNvSpPr/>
          <p:nvPr/>
        </p:nvSpPr>
        <p:spPr>
          <a:xfrm>
            <a:off x="7571232" y="2395728"/>
            <a:ext cx="3749040" cy="502920"/>
          </a:xfrm>
          <a:prstGeom prst="rect">
            <a:avLst/>
          </a:prstGeom>
          <a:noFill/>
          <a:ln/>
        </p:spPr>
        <p:txBody>
          <a:bodyPr wrap="square" rtlCol="0" anchor="ctr"/>
          <a:lstStyle/>
          <a:p>
            <a:pPr marL="0" indent="0">
              <a:buNone/>
            </a:pPr>
            <a:r>
              <a:rPr lang="en-US" sz="1500" dirty="0">
                <a:solidFill>
                  <a:srgbClr val="EAF3F7"/>
                </a:solidFill>
                <a:latin typeface="Calibri" pitchFamily="34" charset="0"/>
                <a:ea typeface="Calibri" pitchFamily="34" charset="-122"/>
                <a:cs typeface="Calibri" pitchFamily="34" charset="-120"/>
              </a:rPr>
              <a:t>Computer users...</a:t>
            </a:r>
          </a:p>
        </p:txBody>
      </p:sp>
      <p:sp>
        <p:nvSpPr>
          <p:cNvPr id="20" name="Shape 18"/>
          <p:cNvSpPr/>
          <p:nvPr/>
        </p:nvSpPr>
        <p:spPr>
          <a:xfrm>
            <a:off x="7315200" y="3090672"/>
            <a:ext cx="128016" cy="128016"/>
          </a:xfrm>
          <a:prstGeom prst="ellipse">
            <a:avLst/>
          </a:prstGeom>
          <a:solidFill>
            <a:srgbClr val="9FD8D0"/>
          </a:solidFill>
          <a:ln/>
        </p:spPr>
        <p:txBody>
          <a:bodyPr/>
          <a:lstStyle/>
          <a:p>
            <a:endParaRPr lang="en-US"/>
          </a:p>
        </p:txBody>
      </p:sp>
      <p:sp>
        <p:nvSpPr>
          <p:cNvPr id="21" name="Text 19"/>
          <p:cNvSpPr/>
          <p:nvPr/>
        </p:nvSpPr>
        <p:spPr>
          <a:xfrm>
            <a:off x="7571232" y="2962656"/>
            <a:ext cx="3749040" cy="502920"/>
          </a:xfrm>
          <a:prstGeom prst="rect">
            <a:avLst/>
          </a:prstGeom>
          <a:noFill/>
          <a:ln/>
        </p:spPr>
        <p:txBody>
          <a:bodyPr wrap="square" rtlCol="0" anchor="ctr"/>
          <a:lstStyle/>
          <a:p>
            <a:pPr marL="0" indent="0">
              <a:buNone/>
            </a:pPr>
            <a:r>
              <a:rPr lang="en-US" sz="1500" dirty="0">
                <a:solidFill>
                  <a:srgbClr val="EAF3F7"/>
                </a:solidFill>
                <a:latin typeface="Calibri" pitchFamily="34" charset="0"/>
                <a:ea typeface="Calibri" pitchFamily="34" charset="-122"/>
                <a:cs typeface="Calibri" pitchFamily="34" charset="-120"/>
              </a:rPr>
              <a:t>Need a non-intrusive physical posture reminder...</a:t>
            </a:r>
          </a:p>
        </p:txBody>
      </p:sp>
      <p:sp>
        <p:nvSpPr>
          <p:cNvPr id="22" name="Shape 20"/>
          <p:cNvSpPr/>
          <p:nvPr/>
        </p:nvSpPr>
        <p:spPr>
          <a:xfrm>
            <a:off x="7315200" y="3657600"/>
            <a:ext cx="128016" cy="128016"/>
          </a:xfrm>
          <a:prstGeom prst="ellipse">
            <a:avLst/>
          </a:prstGeom>
          <a:solidFill>
            <a:srgbClr val="9FD8D0"/>
          </a:solidFill>
          <a:ln/>
        </p:spPr>
        <p:txBody>
          <a:bodyPr/>
          <a:lstStyle/>
          <a:p>
            <a:endParaRPr lang="en-US"/>
          </a:p>
        </p:txBody>
      </p:sp>
      <p:sp>
        <p:nvSpPr>
          <p:cNvPr id="23" name="Text 21"/>
          <p:cNvSpPr/>
          <p:nvPr/>
        </p:nvSpPr>
        <p:spPr>
          <a:xfrm>
            <a:off x="7571232" y="3529584"/>
            <a:ext cx="3749040" cy="502920"/>
          </a:xfrm>
          <a:prstGeom prst="rect">
            <a:avLst/>
          </a:prstGeom>
          <a:noFill/>
          <a:ln/>
        </p:spPr>
        <p:txBody>
          <a:bodyPr wrap="square" rtlCol="0" anchor="ctr"/>
          <a:lstStyle/>
          <a:p>
            <a:pPr marL="0" indent="0">
              <a:buNone/>
            </a:pPr>
            <a:r>
              <a:rPr lang="en-US" sz="1500" dirty="0">
                <a:solidFill>
                  <a:srgbClr val="EAF3F7"/>
                </a:solidFill>
                <a:latin typeface="Calibri" pitchFamily="34" charset="0"/>
                <a:ea typeface="Calibri" pitchFamily="34" charset="-122"/>
                <a:cs typeface="Calibri" pitchFamily="34" charset="-120"/>
              </a:rPr>
              <a:t>Because digital notifications can be dismissed, muted or hidden...</a:t>
            </a:r>
          </a:p>
        </p:txBody>
      </p:sp>
      <p:sp>
        <p:nvSpPr>
          <p:cNvPr id="26" name="Shape 4">
            <a:extLst>
              <a:ext uri="{FF2B5EF4-FFF2-40B4-BE49-F238E27FC236}">
                <a16:creationId xmlns:a16="http://schemas.microsoft.com/office/drawing/2014/main" id="{4570AD04-0232-1013-AA41-BA465CB6FEC7}"/>
              </a:ext>
            </a:extLst>
          </p:cNvPr>
          <p:cNvSpPr/>
          <p:nvPr/>
        </p:nvSpPr>
        <p:spPr>
          <a:xfrm>
            <a:off x="8805672" y="502920"/>
            <a:ext cx="2834640" cy="384048"/>
          </a:xfrm>
          <a:prstGeom prst="roundRect">
            <a:avLst>
              <a:gd name="adj" fmla="val 19048"/>
            </a:avLst>
          </a:prstGeom>
          <a:solidFill>
            <a:srgbClr val="F4F7F9"/>
          </a:solidFill>
          <a:ln w="12700">
            <a:solidFill>
              <a:srgbClr val="E1E7EB"/>
            </a:solidFill>
            <a:prstDash val="solid"/>
          </a:ln>
        </p:spPr>
        <p:txBody>
          <a:bodyPr/>
          <a:lstStyle/>
          <a:p>
            <a:endParaRPr lang="en-US"/>
          </a:p>
        </p:txBody>
      </p:sp>
      <p:sp>
        <p:nvSpPr>
          <p:cNvPr id="27" name="Text 5">
            <a:extLst>
              <a:ext uri="{FF2B5EF4-FFF2-40B4-BE49-F238E27FC236}">
                <a16:creationId xmlns:a16="http://schemas.microsoft.com/office/drawing/2014/main" id="{CFDB3481-BBD5-B55D-449B-A29FE936AAA0}"/>
              </a:ext>
            </a:extLst>
          </p:cNvPr>
          <p:cNvSpPr/>
          <p:nvPr/>
        </p:nvSpPr>
        <p:spPr>
          <a:xfrm>
            <a:off x="8942832" y="502920"/>
            <a:ext cx="2606040" cy="384048"/>
          </a:xfrm>
          <a:prstGeom prst="rect">
            <a:avLst/>
          </a:prstGeom>
          <a:noFill/>
          <a:ln/>
        </p:spPr>
        <p:txBody>
          <a:bodyPr wrap="square" rtlCol="0" anchor="ctr"/>
          <a:lstStyle/>
          <a:p>
            <a:pPr marL="0" indent="0">
              <a:buNone/>
            </a:pPr>
            <a:r>
              <a:rPr lang="en-US" sz="1100" b="1" dirty="0">
                <a:solidFill>
                  <a:srgbClr val="21295C"/>
                </a:solidFill>
                <a:latin typeface="Calibri" pitchFamily="34" charset="0"/>
                <a:ea typeface="Calibri" pitchFamily="34" charset="-122"/>
                <a:cs typeface="Calibri" pitchFamily="34" charset="-120"/>
              </a:rPr>
              <a:t>Presented by:  </a:t>
            </a:r>
            <a:r>
              <a:rPr lang="en-US" sz="1100" i="1" dirty="0">
                <a:solidFill>
                  <a:srgbClr val="5B6570"/>
                </a:solidFill>
                <a:latin typeface="Calibri" pitchFamily="34" charset="0"/>
                <a:ea typeface="Calibri" pitchFamily="34" charset="-122"/>
                <a:cs typeface="Calibri" pitchFamily="34" charset="-120"/>
              </a:rPr>
              <a:t>2023/ICTS/45</a:t>
            </a:r>
            <a:endParaRPr lang="en-US" sz="1100" dirty="0"/>
          </a:p>
        </p:txBody>
      </p:sp>
      <p:sp>
        <p:nvSpPr>
          <p:cNvPr id="28" name="Shape 16">
            <a:extLst>
              <a:ext uri="{FF2B5EF4-FFF2-40B4-BE49-F238E27FC236}">
                <a16:creationId xmlns:a16="http://schemas.microsoft.com/office/drawing/2014/main" id="{465B02AB-9A44-0068-AC66-5B3C026026CF}"/>
              </a:ext>
            </a:extLst>
          </p:cNvPr>
          <p:cNvSpPr/>
          <p:nvPr/>
        </p:nvSpPr>
        <p:spPr>
          <a:xfrm>
            <a:off x="1" y="6472518"/>
            <a:ext cx="12192000" cy="385482"/>
          </a:xfrm>
          <a:prstGeom prst="roundRect">
            <a:avLst>
              <a:gd name="adj" fmla="val 5333"/>
            </a:avLst>
          </a:prstGeom>
          <a:solidFill>
            <a:srgbClr val="0E1228"/>
          </a:solidFill>
          <a:ln/>
        </p:spPr>
        <p:txBody>
          <a:bodyPr/>
          <a:lstStyle/>
          <a:p>
            <a:endParaRPr lang="en-US"/>
          </a:p>
        </p:txBody>
      </p:sp>
      <p:sp>
        <p:nvSpPr>
          <p:cNvPr id="29" name="Text 19">
            <a:extLst>
              <a:ext uri="{FF2B5EF4-FFF2-40B4-BE49-F238E27FC236}">
                <a16:creationId xmlns:a16="http://schemas.microsoft.com/office/drawing/2014/main" id="{2370CF9D-608C-78F5-1008-CB7AE0B3152C}"/>
              </a:ext>
            </a:extLst>
          </p:cNvPr>
          <p:cNvSpPr/>
          <p:nvPr/>
        </p:nvSpPr>
        <p:spPr>
          <a:xfrm>
            <a:off x="548640" y="6537960"/>
            <a:ext cx="7315200" cy="274320"/>
          </a:xfrm>
          <a:prstGeom prst="rect">
            <a:avLst/>
          </a:prstGeom>
          <a:noFill/>
          <a:ln/>
        </p:spPr>
        <p:txBody>
          <a:bodyPr wrap="square" rtlCol="0" anchor="ctr"/>
          <a:lstStyle/>
          <a:p>
            <a:pPr marL="0" indent="0">
              <a:buNone/>
            </a:pPr>
            <a:r>
              <a:rPr lang="en-US" sz="1000" i="1" dirty="0">
                <a:solidFill>
                  <a:schemeClr val="bg1"/>
                </a:solidFill>
                <a:latin typeface="Calibri" pitchFamily="34" charset="0"/>
                <a:ea typeface="Calibri" pitchFamily="34" charset="-122"/>
                <a:cs typeface="Calibri" pitchFamily="34" charset="-120"/>
              </a:rPr>
              <a:t>Section: Conclusion &amp; Demo</a:t>
            </a:r>
            <a:endParaRPr lang="en-US" sz="1000" dirty="0">
              <a:solidFill>
                <a:schemeClr val="bg1"/>
              </a:solidFill>
            </a:endParaRPr>
          </a:p>
        </p:txBody>
      </p:sp>
      <p:sp>
        <p:nvSpPr>
          <p:cNvPr id="30" name="Text 20">
            <a:extLst>
              <a:ext uri="{FF2B5EF4-FFF2-40B4-BE49-F238E27FC236}">
                <a16:creationId xmlns:a16="http://schemas.microsoft.com/office/drawing/2014/main" id="{B102A342-8622-7FCF-AB3A-36CF6E841D4B}"/>
              </a:ext>
            </a:extLst>
          </p:cNvPr>
          <p:cNvSpPr/>
          <p:nvPr/>
        </p:nvSpPr>
        <p:spPr>
          <a:xfrm>
            <a:off x="7434072" y="6537960"/>
            <a:ext cx="4206240" cy="274320"/>
          </a:xfrm>
          <a:prstGeom prst="rect">
            <a:avLst/>
          </a:prstGeom>
          <a:noFill/>
          <a:ln/>
        </p:spPr>
        <p:txBody>
          <a:bodyPr wrap="square" rtlCol="0" anchor="ctr"/>
          <a:lstStyle/>
          <a:p>
            <a:pPr marL="0" indent="0" algn="r">
              <a:buNone/>
            </a:pPr>
            <a:r>
              <a:rPr lang="en-US" sz="1000" dirty="0">
                <a:solidFill>
                  <a:schemeClr val="bg1"/>
                </a:solidFill>
                <a:latin typeface="Calibri" pitchFamily="34" charset="0"/>
                <a:ea typeface="Calibri" pitchFamily="34" charset="-122"/>
                <a:cs typeface="Calibri" pitchFamily="34" charset="-120"/>
              </a:rPr>
              <a:t>TICT 2153 (T) — Human Computer Interaction</a:t>
            </a:r>
            <a:endParaRPr lang="en-US" sz="10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65A82"/>
          </a:solidFill>
          <a:ln/>
        </p:spPr>
        <p:txBody>
          <a:bodyPr/>
          <a:lstStyle/>
          <a:p>
            <a:endParaRPr lang="en-US"/>
          </a:p>
        </p:txBody>
      </p:sp>
      <p:sp>
        <p:nvSpPr>
          <p:cNvPr id="3" name="Text 1"/>
          <p:cNvSpPr/>
          <p:nvPr/>
        </p:nvSpPr>
        <p:spPr>
          <a:xfrm>
            <a:off x="548640" y="502920"/>
            <a:ext cx="457200" cy="45720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4" name="Text 2"/>
          <p:cNvSpPr/>
          <p:nvPr/>
        </p:nvSpPr>
        <p:spPr>
          <a:xfrm>
            <a:off x="1188720" y="411480"/>
            <a:ext cx="7772400" cy="548640"/>
          </a:xfrm>
          <a:prstGeom prst="rect">
            <a:avLst/>
          </a:prstGeom>
          <a:noFill/>
          <a:ln/>
        </p:spPr>
        <p:txBody>
          <a:bodyPr wrap="square" rtlCol="0" anchor="ctr"/>
          <a:lstStyle/>
          <a:p>
            <a:pPr marL="0" indent="0">
              <a:buNone/>
            </a:pPr>
            <a:r>
              <a:rPr lang="en-US" sz="3000" b="1" dirty="0">
                <a:solidFill>
                  <a:srgbClr val="0E1228"/>
                </a:solidFill>
                <a:latin typeface="Cambria" pitchFamily="34" charset="0"/>
                <a:ea typeface="Cambria" pitchFamily="34" charset="-122"/>
                <a:cs typeface="Cambria" pitchFamily="34" charset="-120"/>
              </a:rPr>
              <a:t>Ideate</a:t>
            </a:r>
            <a:endParaRPr lang="en-US" sz="3000" dirty="0">
              <a:solidFill>
                <a:srgbClr val="0E1228"/>
              </a:solidFill>
            </a:endParaRPr>
          </a:p>
        </p:txBody>
      </p:sp>
      <p:sp>
        <p:nvSpPr>
          <p:cNvPr id="5" name="Text 3"/>
          <p:cNvSpPr/>
          <p:nvPr/>
        </p:nvSpPr>
        <p:spPr>
          <a:xfrm>
            <a:off x="1188720" y="914400"/>
            <a:ext cx="7772400" cy="320040"/>
          </a:xfrm>
          <a:prstGeom prst="rect">
            <a:avLst/>
          </a:prstGeom>
          <a:noFill/>
          <a:ln/>
        </p:spPr>
        <p:txBody>
          <a:bodyPr wrap="square"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Generating and selecting the best solution concept</a:t>
            </a:r>
            <a:endParaRPr lang="en-US" sz="1400" dirty="0"/>
          </a:p>
        </p:txBody>
      </p:sp>
      <p:sp>
        <p:nvSpPr>
          <p:cNvPr id="8" name="Shape 6"/>
          <p:cNvSpPr/>
          <p:nvPr/>
        </p:nvSpPr>
        <p:spPr>
          <a:xfrm>
            <a:off x="548640" y="1417320"/>
            <a:ext cx="11091672" cy="0"/>
          </a:xfrm>
          <a:prstGeom prst="line">
            <a:avLst/>
          </a:prstGeom>
          <a:noFill/>
          <a:ln w="12700">
            <a:solidFill>
              <a:srgbClr val="E1E7EB"/>
            </a:solidFill>
            <a:prstDash val="solid"/>
          </a:ln>
        </p:spPr>
        <p:txBody>
          <a:bodyPr/>
          <a:lstStyle/>
          <a:p>
            <a:endParaRPr lang="en-US"/>
          </a:p>
        </p:txBody>
      </p:sp>
      <p:sp>
        <p:nvSpPr>
          <p:cNvPr id="9" name="Shape 7"/>
          <p:cNvSpPr/>
          <p:nvPr/>
        </p:nvSpPr>
        <p:spPr>
          <a:xfrm>
            <a:off x="548640" y="1737360"/>
            <a:ext cx="6309360" cy="4480560"/>
          </a:xfrm>
          <a:prstGeom prst="roundRect">
            <a:avLst>
              <a:gd name="adj" fmla="val 2041"/>
            </a:avLst>
          </a:prstGeom>
          <a:solidFill>
            <a:srgbClr val="F4F7F9"/>
          </a:solidFill>
          <a:ln w="12700">
            <a:solidFill>
              <a:srgbClr val="E1E7EB"/>
            </a:solidFill>
            <a:prstDash val="solid"/>
          </a:ln>
        </p:spPr>
        <p:txBody>
          <a:bodyPr/>
          <a:lstStyle/>
          <a:p>
            <a:endParaRPr lang="en-US"/>
          </a:p>
        </p:txBody>
      </p:sp>
      <p:sp>
        <p:nvSpPr>
          <p:cNvPr id="10" name="Text 8"/>
          <p:cNvSpPr/>
          <p:nvPr/>
        </p:nvSpPr>
        <p:spPr>
          <a:xfrm>
            <a:off x="822960" y="1882919"/>
            <a:ext cx="5760720" cy="365760"/>
          </a:xfrm>
          <a:prstGeom prst="rect">
            <a:avLst/>
          </a:prstGeom>
          <a:noFill/>
          <a:ln/>
        </p:spPr>
        <p:txBody>
          <a:bodyPr wrap="square" rtlCol="0" anchor="ctr"/>
          <a:lstStyle/>
          <a:p>
            <a:pPr marL="0" indent="0">
              <a:buNone/>
            </a:pPr>
            <a:r>
              <a:rPr lang="en-US" b="1" dirty="0">
                <a:solidFill>
                  <a:srgbClr val="21295C"/>
                </a:solidFill>
                <a:latin typeface="Cambria" pitchFamily="34" charset="0"/>
                <a:ea typeface="Cambria" pitchFamily="34" charset="-122"/>
                <a:cs typeface="Cambria" pitchFamily="34" charset="-120"/>
              </a:rPr>
              <a:t>Ideas Generated</a:t>
            </a:r>
            <a:endParaRPr lang="en-US" dirty="0"/>
          </a:p>
        </p:txBody>
      </p:sp>
      <p:sp>
        <p:nvSpPr>
          <p:cNvPr id="11" name="Text 9"/>
          <p:cNvSpPr/>
          <p:nvPr/>
        </p:nvSpPr>
        <p:spPr>
          <a:xfrm>
            <a:off x="822960" y="2472421"/>
            <a:ext cx="5760720" cy="3070900"/>
          </a:xfrm>
          <a:prstGeom prst="rect">
            <a:avLst/>
          </a:prstGeom>
          <a:noFill/>
          <a:ln/>
        </p:spPr>
        <p:txBody>
          <a:bodyPr wrap="square" rtlCol="0" anchor="ctr"/>
          <a:lstStyle/>
          <a:p>
            <a:pPr marL="0" indent="0">
              <a:lnSpc>
                <a:spcPct val="130000"/>
              </a:lnSpc>
              <a:buNone/>
            </a:pPr>
            <a:r>
              <a:rPr lang="en-US" sz="1500" i="1" dirty="0">
                <a:solidFill>
                  <a:srgbClr val="1B1F24"/>
                </a:solidFill>
                <a:latin typeface="Calibri" pitchFamily="34" charset="0"/>
                <a:ea typeface="Calibri" pitchFamily="34" charset="-122"/>
                <a:cs typeface="Calibri" pitchFamily="34" charset="-120"/>
              </a:rPr>
              <a:t>We considered three directions:</a:t>
            </a:r>
          </a:p>
          <a:p>
            <a:pPr marL="0" indent="0">
              <a:lnSpc>
                <a:spcPct val="130000"/>
              </a:lnSpc>
              <a:buNone/>
            </a:pPr>
            <a:endParaRPr lang="en-US" sz="1500" i="1" dirty="0">
              <a:solidFill>
                <a:srgbClr val="1B1F24"/>
              </a:solidFill>
              <a:latin typeface="Calibri" pitchFamily="34" charset="0"/>
              <a:ea typeface="Calibri" pitchFamily="34" charset="-122"/>
              <a:cs typeface="Calibri" pitchFamily="34" charset="-120"/>
            </a:endParaRPr>
          </a:p>
          <a:p>
            <a:pPr marL="342900" indent="-342900">
              <a:lnSpc>
                <a:spcPct val="130000"/>
              </a:lnSpc>
              <a:buFont typeface="+mj-lt"/>
              <a:buAutoNum type="arabicPeriod"/>
            </a:pPr>
            <a:r>
              <a:rPr lang="en-US" sz="1500" i="1" dirty="0">
                <a:solidFill>
                  <a:srgbClr val="1B1F24"/>
                </a:solidFill>
                <a:latin typeface="Calibri" pitchFamily="34" charset="0"/>
                <a:ea typeface="Calibri" pitchFamily="34" charset="-122"/>
                <a:cs typeface="Calibri" pitchFamily="34" charset="-120"/>
              </a:rPr>
              <a:t>Digital reminder approach — software/mobile notifications; easy to dismiss or hide.</a:t>
            </a:r>
          </a:p>
          <a:p>
            <a:pPr marL="342900" indent="-342900">
              <a:lnSpc>
                <a:spcPct val="130000"/>
              </a:lnSpc>
              <a:buFont typeface="+mj-lt"/>
              <a:buAutoNum type="arabicPeriod"/>
            </a:pPr>
            <a:r>
              <a:rPr lang="en-US" sz="1500" i="1" dirty="0">
                <a:solidFill>
                  <a:srgbClr val="1B1F24"/>
                </a:solidFill>
                <a:latin typeface="Calibri" pitchFamily="34" charset="0"/>
                <a:ea typeface="Calibri" pitchFamily="34" charset="-122"/>
                <a:cs typeface="Calibri" pitchFamily="34" charset="-120"/>
              </a:rPr>
              <a:t>Ambient physical reminder — a desk-based visual indicator that avoids active-screen disruption.</a:t>
            </a:r>
          </a:p>
          <a:p>
            <a:pPr marL="342900" indent="-342900">
              <a:lnSpc>
                <a:spcPct val="130000"/>
              </a:lnSpc>
              <a:buFont typeface="+mj-lt"/>
              <a:buAutoNum type="arabicPeriod"/>
            </a:pPr>
            <a:r>
              <a:rPr lang="en-US" sz="1500" i="1" dirty="0">
                <a:solidFill>
                  <a:srgbClr val="1B1F24"/>
                </a:solidFill>
                <a:latin typeface="Calibri" pitchFamily="34" charset="0"/>
                <a:ea typeface="Calibri" pitchFamily="34" charset="-122"/>
                <a:cs typeface="Calibri" pitchFamily="34" charset="-120"/>
              </a:rPr>
              <a:t>ESP32-CAM posture monitor — combines real-time tracking with progressive LED and delayed buzzer feedback.</a:t>
            </a:r>
          </a:p>
          <a:p>
            <a:pPr>
              <a:lnSpc>
                <a:spcPct val="130000"/>
              </a:lnSpc>
            </a:pPr>
            <a:endParaRPr lang="en-US" sz="1500" i="1" dirty="0">
              <a:solidFill>
                <a:srgbClr val="1B1F24"/>
              </a:solidFill>
              <a:latin typeface="Calibri" pitchFamily="34" charset="0"/>
              <a:ea typeface="Calibri" pitchFamily="34" charset="-122"/>
              <a:cs typeface="Calibri" pitchFamily="34" charset="-120"/>
            </a:endParaRPr>
          </a:p>
          <a:p>
            <a:pPr marL="0" indent="0">
              <a:lnSpc>
                <a:spcPct val="130000"/>
              </a:lnSpc>
              <a:buNone/>
            </a:pPr>
            <a:r>
              <a:rPr lang="en-US" sz="1500" i="1" dirty="0">
                <a:solidFill>
                  <a:srgbClr val="1B1F24"/>
                </a:solidFill>
                <a:latin typeface="Calibri" pitchFamily="34" charset="0"/>
                <a:ea typeface="Calibri" pitchFamily="34" charset="-122"/>
                <a:cs typeface="Calibri" pitchFamily="34" charset="-120"/>
              </a:rPr>
              <a:t>We selected Idea 3.</a:t>
            </a:r>
          </a:p>
          <a:p>
            <a:pPr marL="0" indent="0">
              <a:lnSpc>
                <a:spcPct val="130000"/>
              </a:lnSpc>
              <a:buNone/>
            </a:pPr>
            <a:endParaRPr lang="en-US" sz="1500" i="1" dirty="0">
              <a:solidFill>
                <a:srgbClr val="1B1F24"/>
              </a:solidFill>
              <a:latin typeface="Calibri" pitchFamily="34" charset="0"/>
              <a:ea typeface="Calibri" pitchFamily="34" charset="-122"/>
              <a:cs typeface="Calibri" pitchFamily="34" charset="-120"/>
            </a:endParaRPr>
          </a:p>
        </p:txBody>
      </p:sp>
      <p:sp>
        <p:nvSpPr>
          <p:cNvPr id="16" name="Shape 14"/>
          <p:cNvSpPr/>
          <p:nvPr/>
        </p:nvSpPr>
        <p:spPr>
          <a:xfrm>
            <a:off x="7040880" y="1737360"/>
            <a:ext cx="4572000" cy="4480560"/>
          </a:xfrm>
          <a:prstGeom prst="roundRect">
            <a:avLst>
              <a:gd name="adj" fmla="val 2041"/>
            </a:avLst>
          </a:prstGeom>
          <a:solidFill>
            <a:srgbClr val="065A82"/>
          </a:solidFill>
          <a:ln/>
        </p:spPr>
        <p:txBody>
          <a:bodyPr/>
          <a:lstStyle/>
          <a:p>
            <a:endParaRPr lang="en-US"/>
          </a:p>
        </p:txBody>
      </p:sp>
      <p:sp>
        <p:nvSpPr>
          <p:cNvPr id="17" name="Text 15"/>
          <p:cNvSpPr/>
          <p:nvPr/>
        </p:nvSpPr>
        <p:spPr>
          <a:xfrm>
            <a:off x="7315200" y="1965960"/>
            <a:ext cx="4023360" cy="36576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We </a:t>
            </a:r>
            <a:r>
              <a:rPr lang="en-US" sz="1600" b="1" dirty="0">
                <a:solidFill>
                  <a:srgbClr val="FFFFFF"/>
                </a:solidFill>
                <a:latin typeface="Cambria" pitchFamily="34" charset="0"/>
                <a:ea typeface="Cambria" pitchFamily="34" charset="-122"/>
                <a:cs typeface="Cambria" pitchFamily="34" charset="-120"/>
              </a:rPr>
              <a:t>Chose</a:t>
            </a:r>
            <a:r>
              <a:rPr lang="en-US" sz="1500" b="1" dirty="0">
                <a:solidFill>
                  <a:srgbClr val="FFFFFF"/>
                </a:solidFill>
                <a:latin typeface="Cambria" pitchFamily="34" charset="0"/>
                <a:ea typeface="Cambria" pitchFamily="34" charset="-122"/>
                <a:cs typeface="Cambria" pitchFamily="34" charset="-120"/>
              </a:rPr>
              <a:t> This Idea</a:t>
            </a:r>
            <a:endParaRPr lang="en-US" sz="1500" dirty="0"/>
          </a:p>
        </p:txBody>
      </p:sp>
      <p:sp>
        <p:nvSpPr>
          <p:cNvPr id="18" name="Shape 16"/>
          <p:cNvSpPr/>
          <p:nvPr/>
        </p:nvSpPr>
        <p:spPr>
          <a:xfrm>
            <a:off x="7315200" y="2523744"/>
            <a:ext cx="128016" cy="128016"/>
          </a:xfrm>
          <a:prstGeom prst="ellipse">
            <a:avLst/>
          </a:prstGeom>
          <a:solidFill>
            <a:srgbClr val="9FD8D0"/>
          </a:solidFill>
          <a:ln/>
        </p:spPr>
        <p:txBody>
          <a:bodyPr/>
          <a:lstStyle/>
          <a:p>
            <a:endParaRPr lang="en-US"/>
          </a:p>
        </p:txBody>
      </p:sp>
      <p:sp>
        <p:nvSpPr>
          <p:cNvPr id="19" name="Text 17"/>
          <p:cNvSpPr/>
          <p:nvPr/>
        </p:nvSpPr>
        <p:spPr>
          <a:xfrm>
            <a:off x="7571232" y="2395728"/>
            <a:ext cx="3749040" cy="502920"/>
          </a:xfrm>
          <a:prstGeom prst="rect">
            <a:avLst/>
          </a:prstGeom>
          <a:noFill/>
          <a:ln/>
        </p:spPr>
        <p:txBody>
          <a:bodyPr wrap="square" rtlCol="0" anchor="ctr"/>
          <a:lstStyle/>
          <a:p>
            <a:pPr marL="0" indent="0">
              <a:buNone/>
            </a:pPr>
            <a:r>
              <a:rPr lang="en-US" sz="1500" dirty="0">
                <a:solidFill>
                  <a:srgbClr val="EAF3F7"/>
                </a:solidFill>
                <a:latin typeface="Calibri" pitchFamily="34" charset="0"/>
                <a:ea typeface="Calibri" pitchFamily="34" charset="-122"/>
                <a:cs typeface="Calibri" pitchFamily="34" charset="-120"/>
              </a:rPr>
              <a:t>Feasibility — Uses listed off-the-shelf ESP32-CAM and basic modules.</a:t>
            </a:r>
          </a:p>
        </p:txBody>
      </p:sp>
      <p:sp>
        <p:nvSpPr>
          <p:cNvPr id="20" name="Shape 18"/>
          <p:cNvSpPr/>
          <p:nvPr/>
        </p:nvSpPr>
        <p:spPr>
          <a:xfrm>
            <a:off x="7315200" y="3090672"/>
            <a:ext cx="128016" cy="128016"/>
          </a:xfrm>
          <a:prstGeom prst="ellipse">
            <a:avLst/>
          </a:prstGeom>
          <a:solidFill>
            <a:srgbClr val="9FD8D0"/>
          </a:solidFill>
          <a:ln/>
        </p:spPr>
        <p:txBody>
          <a:bodyPr/>
          <a:lstStyle/>
          <a:p>
            <a:endParaRPr lang="en-US"/>
          </a:p>
        </p:txBody>
      </p:sp>
      <p:sp>
        <p:nvSpPr>
          <p:cNvPr id="21" name="Text 19"/>
          <p:cNvSpPr/>
          <p:nvPr/>
        </p:nvSpPr>
        <p:spPr>
          <a:xfrm>
            <a:off x="7571232" y="2962656"/>
            <a:ext cx="3749040" cy="502920"/>
          </a:xfrm>
          <a:prstGeom prst="rect">
            <a:avLst/>
          </a:prstGeom>
          <a:noFill/>
          <a:ln/>
        </p:spPr>
        <p:txBody>
          <a:bodyPr wrap="square" rtlCol="0" anchor="ctr"/>
          <a:lstStyle/>
          <a:p>
            <a:pPr marL="0" indent="0">
              <a:buNone/>
            </a:pPr>
            <a:r>
              <a:rPr lang="en-US" sz="1500" dirty="0">
                <a:solidFill>
                  <a:srgbClr val="EAF3F7"/>
                </a:solidFill>
                <a:latin typeface="Calibri" pitchFamily="34" charset="0"/>
                <a:ea typeface="Calibri" pitchFamily="34" charset="-122"/>
                <a:cs typeface="Calibri" pitchFamily="34" charset="-120"/>
              </a:rPr>
              <a:t>Impact — Encourages self-correction and reduces notification fatigue.</a:t>
            </a:r>
          </a:p>
        </p:txBody>
      </p:sp>
      <p:sp>
        <p:nvSpPr>
          <p:cNvPr id="22" name="Shape 20"/>
          <p:cNvSpPr/>
          <p:nvPr/>
        </p:nvSpPr>
        <p:spPr>
          <a:xfrm>
            <a:off x="7315200" y="3657600"/>
            <a:ext cx="128016" cy="128016"/>
          </a:xfrm>
          <a:prstGeom prst="ellipse">
            <a:avLst/>
          </a:prstGeom>
          <a:solidFill>
            <a:srgbClr val="9FD8D0"/>
          </a:solidFill>
          <a:ln/>
        </p:spPr>
        <p:txBody>
          <a:bodyPr/>
          <a:lstStyle/>
          <a:p>
            <a:endParaRPr lang="en-US"/>
          </a:p>
        </p:txBody>
      </p:sp>
      <p:sp>
        <p:nvSpPr>
          <p:cNvPr id="23" name="Text 21"/>
          <p:cNvSpPr/>
          <p:nvPr/>
        </p:nvSpPr>
        <p:spPr>
          <a:xfrm>
            <a:off x="7571232" y="3660214"/>
            <a:ext cx="3749040" cy="502920"/>
          </a:xfrm>
          <a:prstGeom prst="rect">
            <a:avLst/>
          </a:prstGeom>
          <a:noFill/>
          <a:ln/>
        </p:spPr>
        <p:txBody>
          <a:bodyPr wrap="square" rtlCol="0" anchor="ctr"/>
          <a:lstStyle/>
          <a:p>
            <a:pPr marL="0" indent="0">
              <a:buNone/>
            </a:pPr>
            <a:r>
              <a:rPr lang="en-US" sz="1500" dirty="0">
                <a:solidFill>
                  <a:srgbClr val="EAF3F7"/>
                </a:solidFill>
                <a:latin typeface="Calibri" pitchFamily="34" charset="0"/>
                <a:ea typeface="Calibri" pitchFamily="34" charset="-122"/>
                <a:cs typeface="Calibri" pitchFamily="34" charset="-120"/>
              </a:rPr>
              <a:t>Novelty — A standalone physical desk companion rather than a software-only reminder.</a:t>
            </a:r>
          </a:p>
        </p:txBody>
      </p:sp>
      <p:sp>
        <p:nvSpPr>
          <p:cNvPr id="26" name="Shape 4">
            <a:extLst>
              <a:ext uri="{FF2B5EF4-FFF2-40B4-BE49-F238E27FC236}">
                <a16:creationId xmlns:a16="http://schemas.microsoft.com/office/drawing/2014/main" id="{99134CAD-95B9-DC63-E275-182F8DC37096}"/>
              </a:ext>
            </a:extLst>
          </p:cNvPr>
          <p:cNvSpPr/>
          <p:nvPr/>
        </p:nvSpPr>
        <p:spPr>
          <a:xfrm>
            <a:off x="8805672" y="502920"/>
            <a:ext cx="2834640" cy="384048"/>
          </a:xfrm>
          <a:prstGeom prst="roundRect">
            <a:avLst>
              <a:gd name="adj" fmla="val 19048"/>
            </a:avLst>
          </a:prstGeom>
          <a:solidFill>
            <a:srgbClr val="F4F7F9"/>
          </a:solidFill>
          <a:ln w="12700">
            <a:solidFill>
              <a:srgbClr val="E1E7EB"/>
            </a:solidFill>
            <a:prstDash val="solid"/>
          </a:ln>
        </p:spPr>
        <p:txBody>
          <a:bodyPr/>
          <a:lstStyle/>
          <a:p>
            <a:endParaRPr lang="en-US"/>
          </a:p>
        </p:txBody>
      </p:sp>
      <p:sp>
        <p:nvSpPr>
          <p:cNvPr id="27" name="Text 5">
            <a:extLst>
              <a:ext uri="{FF2B5EF4-FFF2-40B4-BE49-F238E27FC236}">
                <a16:creationId xmlns:a16="http://schemas.microsoft.com/office/drawing/2014/main" id="{3CC0A651-22DA-8094-FD64-EBE176635F32}"/>
              </a:ext>
            </a:extLst>
          </p:cNvPr>
          <p:cNvSpPr/>
          <p:nvPr/>
        </p:nvSpPr>
        <p:spPr>
          <a:xfrm>
            <a:off x="8942832" y="502920"/>
            <a:ext cx="2606040" cy="384048"/>
          </a:xfrm>
          <a:prstGeom prst="rect">
            <a:avLst/>
          </a:prstGeom>
          <a:noFill/>
          <a:ln/>
        </p:spPr>
        <p:txBody>
          <a:bodyPr wrap="square" rtlCol="0" anchor="ctr"/>
          <a:lstStyle/>
          <a:p>
            <a:pPr marL="0" indent="0">
              <a:buNone/>
            </a:pPr>
            <a:r>
              <a:rPr lang="en-US" sz="1100" b="1" dirty="0">
                <a:solidFill>
                  <a:srgbClr val="21295C"/>
                </a:solidFill>
                <a:latin typeface="Calibri" pitchFamily="34" charset="0"/>
                <a:ea typeface="Calibri" pitchFamily="34" charset="-122"/>
                <a:cs typeface="Calibri" pitchFamily="34" charset="-120"/>
              </a:rPr>
              <a:t>Presented by:  </a:t>
            </a:r>
            <a:r>
              <a:rPr lang="en-US" sz="1100" i="1" dirty="0">
                <a:solidFill>
                  <a:srgbClr val="5B6570"/>
                </a:solidFill>
                <a:latin typeface="Calibri" pitchFamily="34" charset="0"/>
                <a:ea typeface="Calibri" pitchFamily="34" charset="-122"/>
                <a:cs typeface="Calibri" pitchFamily="34" charset="-120"/>
              </a:rPr>
              <a:t>2023/ICTS/38</a:t>
            </a:r>
            <a:endParaRPr lang="en-US" sz="1100" dirty="0"/>
          </a:p>
        </p:txBody>
      </p:sp>
      <p:sp>
        <p:nvSpPr>
          <p:cNvPr id="28" name="Shape 16">
            <a:extLst>
              <a:ext uri="{FF2B5EF4-FFF2-40B4-BE49-F238E27FC236}">
                <a16:creationId xmlns:a16="http://schemas.microsoft.com/office/drawing/2014/main" id="{A3396949-1698-9114-1BE2-867B36A22079}"/>
              </a:ext>
            </a:extLst>
          </p:cNvPr>
          <p:cNvSpPr/>
          <p:nvPr/>
        </p:nvSpPr>
        <p:spPr>
          <a:xfrm>
            <a:off x="1" y="6472518"/>
            <a:ext cx="12192000" cy="385482"/>
          </a:xfrm>
          <a:prstGeom prst="roundRect">
            <a:avLst>
              <a:gd name="adj" fmla="val 5333"/>
            </a:avLst>
          </a:prstGeom>
          <a:solidFill>
            <a:srgbClr val="0E1228"/>
          </a:solidFill>
          <a:ln/>
        </p:spPr>
        <p:txBody>
          <a:bodyPr/>
          <a:lstStyle/>
          <a:p>
            <a:endParaRPr lang="en-US"/>
          </a:p>
        </p:txBody>
      </p:sp>
      <p:sp>
        <p:nvSpPr>
          <p:cNvPr id="29" name="Text 19">
            <a:extLst>
              <a:ext uri="{FF2B5EF4-FFF2-40B4-BE49-F238E27FC236}">
                <a16:creationId xmlns:a16="http://schemas.microsoft.com/office/drawing/2014/main" id="{A88E6155-531F-0859-F583-D2068B6746E0}"/>
              </a:ext>
            </a:extLst>
          </p:cNvPr>
          <p:cNvSpPr/>
          <p:nvPr/>
        </p:nvSpPr>
        <p:spPr>
          <a:xfrm>
            <a:off x="548640" y="6537960"/>
            <a:ext cx="7315200" cy="274320"/>
          </a:xfrm>
          <a:prstGeom prst="rect">
            <a:avLst/>
          </a:prstGeom>
          <a:noFill/>
          <a:ln/>
        </p:spPr>
        <p:txBody>
          <a:bodyPr wrap="square" rtlCol="0" anchor="ctr"/>
          <a:lstStyle/>
          <a:p>
            <a:pPr marL="0" indent="0">
              <a:buNone/>
            </a:pPr>
            <a:r>
              <a:rPr lang="en-US" sz="1000" i="1" dirty="0">
                <a:solidFill>
                  <a:schemeClr val="bg1"/>
                </a:solidFill>
                <a:latin typeface="Calibri" pitchFamily="34" charset="0"/>
                <a:ea typeface="Calibri" pitchFamily="34" charset="-122"/>
                <a:cs typeface="Calibri" pitchFamily="34" charset="-120"/>
              </a:rPr>
              <a:t>Section: Conclusion &amp; Demo</a:t>
            </a:r>
            <a:endParaRPr lang="en-US" sz="1000" dirty="0">
              <a:solidFill>
                <a:schemeClr val="bg1"/>
              </a:solidFill>
            </a:endParaRPr>
          </a:p>
        </p:txBody>
      </p:sp>
      <p:sp>
        <p:nvSpPr>
          <p:cNvPr id="30" name="Text 20">
            <a:extLst>
              <a:ext uri="{FF2B5EF4-FFF2-40B4-BE49-F238E27FC236}">
                <a16:creationId xmlns:a16="http://schemas.microsoft.com/office/drawing/2014/main" id="{4799EB42-248E-6BC2-1EBB-462F45F1A611}"/>
              </a:ext>
            </a:extLst>
          </p:cNvPr>
          <p:cNvSpPr/>
          <p:nvPr/>
        </p:nvSpPr>
        <p:spPr>
          <a:xfrm>
            <a:off x="7434072" y="6537960"/>
            <a:ext cx="4206240" cy="274320"/>
          </a:xfrm>
          <a:prstGeom prst="rect">
            <a:avLst/>
          </a:prstGeom>
          <a:noFill/>
          <a:ln/>
        </p:spPr>
        <p:txBody>
          <a:bodyPr wrap="square" rtlCol="0" anchor="ctr"/>
          <a:lstStyle/>
          <a:p>
            <a:pPr marL="0" indent="0" algn="r">
              <a:buNone/>
            </a:pPr>
            <a:r>
              <a:rPr lang="en-US" sz="1000" dirty="0">
                <a:solidFill>
                  <a:schemeClr val="bg1"/>
                </a:solidFill>
                <a:latin typeface="Calibri" pitchFamily="34" charset="0"/>
                <a:ea typeface="Calibri" pitchFamily="34" charset="-122"/>
                <a:cs typeface="Calibri" pitchFamily="34" charset="-120"/>
              </a:rPr>
              <a:t>TICT 2153 (T) — Human Computer Interaction</a:t>
            </a:r>
            <a:endParaRPr lang="en-US" sz="10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65A82"/>
          </a:solidFill>
          <a:ln/>
        </p:spPr>
        <p:txBody>
          <a:bodyPr/>
          <a:lstStyle/>
          <a:p>
            <a:endParaRPr lang="en-US"/>
          </a:p>
        </p:txBody>
      </p:sp>
      <p:sp>
        <p:nvSpPr>
          <p:cNvPr id="3" name="Text 1"/>
          <p:cNvSpPr/>
          <p:nvPr/>
        </p:nvSpPr>
        <p:spPr>
          <a:xfrm>
            <a:off x="548640" y="502920"/>
            <a:ext cx="457200" cy="45720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4" name="Text 2"/>
          <p:cNvSpPr/>
          <p:nvPr/>
        </p:nvSpPr>
        <p:spPr>
          <a:xfrm>
            <a:off x="1188720" y="411480"/>
            <a:ext cx="7772400" cy="548640"/>
          </a:xfrm>
          <a:prstGeom prst="rect">
            <a:avLst/>
          </a:prstGeom>
          <a:noFill/>
          <a:ln/>
        </p:spPr>
        <p:txBody>
          <a:bodyPr wrap="square" rtlCol="0" anchor="ctr"/>
          <a:lstStyle/>
          <a:p>
            <a:pPr marL="0" indent="0">
              <a:buNone/>
            </a:pPr>
            <a:r>
              <a:rPr lang="en-US" sz="3000" b="1" dirty="0">
                <a:solidFill>
                  <a:srgbClr val="0E1228"/>
                </a:solidFill>
                <a:latin typeface="Cambria" pitchFamily="34" charset="0"/>
                <a:ea typeface="Cambria" pitchFamily="34" charset="-122"/>
                <a:cs typeface="Cambria" pitchFamily="34" charset="-120"/>
              </a:rPr>
              <a:t>Prototype</a:t>
            </a:r>
            <a:endParaRPr lang="en-US" sz="3000" dirty="0">
              <a:solidFill>
                <a:srgbClr val="0E1228"/>
              </a:solidFill>
            </a:endParaRPr>
          </a:p>
        </p:txBody>
      </p:sp>
      <p:sp>
        <p:nvSpPr>
          <p:cNvPr id="5" name="Text 3"/>
          <p:cNvSpPr/>
          <p:nvPr/>
        </p:nvSpPr>
        <p:spPr>
          <a:xfrm>
            <a:off x="1188720" y="914400"/>
            <a:ext cx="7772400" cy="320040"/>
          </a:xfrm>
          <a:prstGeom prst="rect">
            <a:avLst/>
          </a:prstGeom>
          <a:noFill/>
          <a:ln/>
        </p:spPr>
        <p:txBody>
          <a:bodyPr wrap="square"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Building a working, interactive artefact</a:t>
            </a:r>
            <a:endParaRPr lang="en-US" sz="1400" dirty="0"/>
          </a:p>
        </p:txBody>
      </p:sp>
      <p:sp>
        <p:nvSpPr>
          <p:cNvPr id="8" name="Shape 6"/>
          <p:cNvSpPr/>
          <p:nvPr/>
        </p:nvSpPr>
        <p:spPr>
          <a:xfrm>
            <a:off x="548640" y="1417320"/>
            <a:ext cx="11091672" cy="0"/>
          </a:xfrm>
          <a:prstGeom prst="line">
            <a:avLst/>
          </a:prstGeom>
          <a:noFill/>
          <a:ln w="12700">
            <a:solidFill>
              <a:srgbClr val="E1E7EB"/>
            </a:solidFill>
            <a:prstDash val="solid"/>
          </a:ln>
        </p:spPr>
        <p:txBody>
          <a:bodyPr/>
          <a:lstStyle/>
          <a:p>
            <a:endParaRPr lang="en-US"/>
          </a:p>
        </p:txBody>
      </p:sp>
      <p:sp>
        <p:nvSpPr>
          <p:cNvPr id="9" name="Shape 7"/>
          <p:cNvSpPr/>
          <p:nvPr/>
        </p:nvSpPr>
        <p:spPr>
          <a:xfrm>
            <a:off x="548640" y="1737360"/>
            <a:ext cx="6309360" cy="4480560"/>
          </a:xfrm>
          <a:prstGeom prst="roundRect">
            <a:avLst>
              <a:gd name="adj" fmla="val 2041"/>
            </a:avLst>
          </a:prstGeom>
          <a:solidFill>
            <a:srgbClr val="F4F7F9"/>
          </a:solidFill>
          <a:ln w="12700">
            <a:solidFill>
              <a:srgbClr val="E1E7EB"/>
            </a:solidFill>
            <a:prstDash val="solid"/>
          </a:ln>
        </p:spPr>
        <p:txBody>
          <a:bodyPr/>
          <a:lstStyle/>
          <a:p>
            <a:endParaRPr lang="en-US"/>
          </a:p>
        </p:txBody>
      </p:sp>
      <p:sp>
        <p:nvSpPr>
          <p:cNvPr id="10" name="Text 8"/>
          <p:cNvSpPr/>
          <p:nvPr/>
        </p:nvSpPr>
        <p:spPr>
          <a:xfrm>
            <a:off x="822960" y="1920240"/>
            <a:ext cx="5760720" cy="365760"/>
          </a:xfrm>
          <a:prstGeom prst="rect">
            <a:avLst/>
          </a:prstGeom>
          <a:noFill/>
          <a:ln/>
        </p:spPr>
        <p:txBody>
          <a:bodyPr wrap="square" rtlCol="0" anchor="ctr"/>
          <a:lstStyle/>
          <a:p>
            <a:pPr marL="0" indent="0">
              <a:buNone/>
            </a:pPr>
            <a:r>
              <a:rPr lang="en-US" b="1" dirty="0">
                <a:solidFill>
                  <a:srgbClr val="21295C"/>
                </a:solidFill>
                <a:latin typeface="Cambria" pitchFamily="34" charset="0"/>
                <a:ea typeface="Cambria" pitchFamily="34" charset="-122"/>
                <a:cs typeface="Cambria" pitchFamily="34" charset="-120"/>
              </a:rPr>
              <a:t>Build Process</a:t>
            </a:r>
            <a:endParaRPr lang="en-US" dirty="0"/>
          </a:p>
        </p:txBody>
      </p:sp>
      <p:sp>
        <p:nvSpPr>
          <p:cNvPr id="11" name="Text 9"/>
          <p:cNvSpPr/>
          <p:nvPr/>
        </p:nvSpPr>
        <p:spPr>
          <a:xfrm>
            <a:off x="822960" y="2293460"/>
            <a:ext cx="5760720" cy="2331719"/>
          </a:xfrm>
          <a:prstGeom prst="rect">
            <a:avLst/>
          </a:prstGeom>
          <a:noFill/>
          <a:ln/>
        </p:spPr>
        <p:txBody>
          <a:bodyPr wrap="square" rtlCol="0" anchor="ctr"/>
          <a:lstStyle/>
          <a:p>
            <a:pPr marL="342900" indent="-342900">
              <a:lnSpc>
                <a:spcPct val="130000"/>
              </a:lnSpc>
              <a:buFont typeface="+mj-lt"/>
              <a:buAutoNum type="arabicPeriod"/>
            </a:pPr>
            <a:r>
              <a:rPr lang="en-US" sz="1500" i="1" dirty="0">
                <a:solidFill>
                  <a:srgbClr val="1B1F24"/>
                </a:solidFill>
                <a:latin typeface="Calibri" pitchFamily="34" charset="0"/>
                <a:ea typeface="Calibri" pitchFamily="34" charset="-122"/>
                <a:cs typeface="Calibri" pitchFamily="34" charset="-120"/>
              </a:rPr>
              <a:t>Place the ESP32-CAM/OV2640 camera in a compact desktop enclosure.</a:t>
            </a:r>
          </a:p>
          <a:p>
            <a:pPr marL="342900" indent="-342900">
              <a:lnSpc>
                <a:spcPct val="130000"/>
              </a:lnSpc>
              <a:buFont typeface="+mj-lt"/>
              <a:buAutoNum type="arabicPeriod"/>
            </a:pPr>
            <a:r>
              <a:rPr lang="en-US" sz="1500" i="1" dirty="0">
                <a:solidFill>
                  <a:srgbClr val="1B1F24"/>
                </a:solidFill>
                <a:latin typeface="Calibri" pitchFamily="34" charset="0"/>
                <a:ea typeface="Calibri" pitchFamily="34" charset="-122"/>
                <a:cs typeface="Calibri" pitchFamily="34" charset="-120"/>
              </a:rPr>
              <a:t>Connect the RGB LED module and active buzzer to the controller.</a:t>
            </a:r>
          </a:p>
          <a:p>
            <a:pPr marL="342900" indent="-342900">
              <a:lnSpc>
                <a:spcPct val="130000"/>
              </a:lnSpc>
              <a:buFont typeface="+mj-lt"/>
              <a:buAutoNum type="arabicPeriod"/>
            </a:pPr>
            <a:r>
              <a:rPr lang="en-US" sz="1500" i="1" dirty="0">
                <a:solidFill>
                  <a:srgbClr val="1B1F24"/>
                </a:solidFill>
                <a:latin typeface="Calibri" pitchFamily="34" charset="0"/>
                <a:ea typeface="Calibri" pitchFamily="34" charset="-122"/>
                <a:cs typeface="Calibri" pitchFamily="34" charset="-120"/>
              </a:rPr>
              <a:t>Program the posture-monitoring logic using Arduino IDE and ESP32 camera libraries.</a:t>
            </a:r>
          </a:p>
          <a:p>
            <a:pPr marL="342900" indent="-342900">
              <a:lnSpc>
                <a:spcPct val="130000"/>
              </a:lnSpc>
              <a:buFont typeface="+mj-lt"/>
              <a:buAutoNum type="arabicPeriod"/>
            </a:pPr>
            <a:r>
              <a:rPr lang="en-US" sz="1500" i="1" dirty="0">
                <a:solidFill>
                  <a:srgbClr val="1B1F24"/>
                </a:solidFill>
                <a:latin typeface="Calibri" pitchFamily="34" charset="0"/>
                <a:ea typeface="Calibri" pitchFamily="34" charset="-122"/>
                <a:cs typeface="Calibri" pitchFamily="34" charset="-120"/>
              </a:rPr>
              <a:t>Implement the three feedback states and the 3-minute escalation threshold.</a:t>
            </a:r>
          </a:p>
          <a:p>
            <a:pPr marL="342900" indent="-342900">
              <a:lnSpc>
                <a:spcPct val="130000"/>
              </a:lnSpc>
              <a:buFont typeface="+mj-lt"/>
              <a:buAutoNum type="arabicPeriod"/>
            </a:pPr>
            <a:r>
              <a:rPr lang="en-US" sz="1500" i="1" dirty="0">
                <a:solidFill>
                  <a:srgbClr val="1B1F24"/>
                </a:solidFill>
                <a:latin typeface="Calibri" pitchFamily="34" charset="0"/>
                <a:ea typeface="Calibri" pitchFamily="34" charset="-122"/>
                <a:cs typeface="Calibri" pitchFamily="34" charset="-120"/>
              </a:rPr>
              <a:t>Assemble the prototype as a standalone physical desk object.</a:t>
            </a:r>
          </a:p>
        </p:txBody>
      </p:sp>
      <p:sp>
        <p:nvSpPr>
          <p:cNvPr id="12" name="Shape 10"/>
          <p:cNvSpPr/>
          <p:nvPr/>
        </p:nvSpPr>
        <p:spPr>
          <a:xfrm>
            <a:off x="822960" y="4709160"/>
            <a:ext cx="5760720" cy="0"/>
          </a:xfrm>
          <a:prstGeom prst="line">
            <a:avLst/>
          </a:prstGeom>
          <a:noFill/>
          <a:ln w="12700">
            <a:solidFill>
              <a:srgbClr val="E1E7EB"/>
            </a:solidFill>
            <a:prstDash val="solid"/>
          </a:ln>
        </p:spPr>
        <p:txBody>
          <a:bodyPr/>
          <a:lstStyle/>
          <a:p>
            <a:endParaRPr lang="en-US"/>
          </a:p>
        </p:txBody>
      </p:sp>
      <p:sp>
        <p:nvSpPr>
          <p:cNvPr id="14" name="Shape 12"/>
          <p:cNvSpPr/>
          <p:nvPr/>
        </p:nvSpPr>
        <p:spPr>
          <a:xfrm>
            <a:off x="822960" y="4834059"/>
            <a:ext cx="5760720" cy="1246701"/>
          </a:xfrm>
          <a:prstGeom prst="roundRect">
            <a:avLst>
              <a:gd name="adj" fmla="val 6667"/>
            </a:avLst>
          </a:prstGeom>
          <a:solidFill>
            <a:srgbClr val="FFFFFF"/>
          </a:solidFill>
          <a:ln w="12700">
            <a:solidFill>
              <a:srgbClr val="E1E7EB"/>
            </a:solidFill>
            <a:prstDash val="dash"/>
          </a:ln>
        </p:spPr>
        <p:txBody>
          <a:bodyPr/>
          <a:lstStyle/>
          <a:p>
            <a:endParaRPr lang="en-US"/>
          </a:p>
        </p:txBody>
      </p:sp>
      <p:sp>
        <p:nvSpPr>
          <p:cNvPr id="15" name="Text 13"/>
          <p:cNvSpPr/>
          <p:nvPr/>
        </p:nvSpPr>
        <p:spPr>
          <a:xfrm>
            <a:off x="822960" y="4879777"/>
            <a:ext cx="5760720" cy="1200983"/>
          </a:xfrm>
          <a:prstGeom prst="rect">
            <a:avLst/>
          </a:prstGeom>
          <a:noFill/>
          <a:ln/>
        </p:spPr>
        <p:txBody>
          <a:bodyPr wrap="square" rtlCol="0" anchor="ctr"/>
          <a:lstStyle/>
          <a:p>
            <a:pPr marL="0" indent="0" algn="ctr">
              <a:buNone/>
            </a:pPr>
            <a:endParaRPr lang="en-US" sz="1100" dirty="0"/>
          </a:p>
        </p:txBody>
      </p:sp>
      <p:sp>
        <p:nvSpPr>
          <p:cNvPr id="16" name="Shape 14"/>
          <p:cNvSpPr/>
          <p:nvPr/>
        </p:nvSpPr>
        <p:spPr>
          <a:xfrm>
            <a:off x="7040880" y="1737360"/>
            <a:ext cx="4572000" cy="4480560"/>
          </a:xfrm>
          <a:prstGeom prst="roundRect">
            <a:avLst>
              <a:gd name="adj" fmla="val 2041"/>
            </a:avLst>
          </a:prstGeom>
          <a:solidFill>
            <a:srgbClr val="065A82"/>
          </a:solidFill>
          <a:ln/>
        </p:spPr>
        <p:txBody>
          <a:bodyPr/>
          <a:lstStyle/>
          <a:p>
            <a:endParaRPr lang="en-US"/>
          </a:p>
        </p:txBody>
      </p:sp>
      <p:sp>
        <p:nvSpPr>
          <p:cNvPr id="17" name="Text 15"/>
          <p:cNvSpPr/>
          <p:nvPr/>
        </p:nvSpPr>
        <p:spPr>
          <a:xfrm>
            <a:off x="7315200" y="1965960"/>
            <a:ext cx="402336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What It Does</a:t>
            </a:r>
            <a:endParaRPr lang="en-US" sz="1600" dirty="0"/>
          </a:p>
        </p:txBody>
      </p:sp>
      <p:sp>
        <p:nvSpPr>
          <p:cNvPr id="18" name="Shape 16"/>
          <p:cNvSpPr/>
          <p:nvPr/>
        </p:nvSpPr>
        <p:spPr>
          <a:xfrm>
            <a:off x="7315200" y="2523744"/>
            <a:ext cx="128016" cy="128016"/>
          </a:xfrm>
          <a:prstGeom prst="ellipse">
            <a:avLst/>
          </a:prstGeom>
          <a:solidFill>
            <a:srgbClr val="9FD8D0"/>
          </a:solidFill>
          <a:ln/>
        </p:spPr>
        <p:txBody>
          <a:bodyPr/>
          <a:lstStyle/>
          <a:p>
            <a:endParaRPr lang="en-US"/>
          </a:p>
        </p:txBody>
      </p:sp>
      <p:sp>
        <p:nvSpPr>
          <p:cNvPr id="19" name="Text 17"/>
          <p:cNvSpPr/>
          <p:nvPr/>
        </p:nvSpPr>
        <p:spPr>
          <a:xfrm>
            <a:off x="7571232" y="2395728"/>
            <a:ext cx="3749040" cy="502920"/>
          </a:xfrm>
          <a:prstGeom prst="rect">
            <a:avLst/>
          </a:prstGeom>
          <a:noFill/>
          <a:ln/>
        </p:spPr>
        <p:txBody>
          <a:bodyPr wrap="square" rtlCol="0" anchor="ctr"/>
          <a:lstStyle/>
          <a:p>
            <a:pPr marL="0" indent="0">
              <a:buNone/>
            </a:pPr>
            <a:r>
              <a:rPr lang="en-US" sz="1500" dirty="0">
                <a:solidFill>
                  <a:srgbClr val="EAF3F7"/>
                </a:solidFill>
                <a:latin typeface="Calibri" pitchFamily="34" charset="0"/>
                <a:ea typeface="Calibri" pitchFamily="34" charset="-122"/>
                <a:cs typeface="Calibri" pitchFamily="34" charset="-120"/>
              </a:rPr>
              <a:t>Good posture → RGB LED glows Green.</a:t>
            </a:r>
          </a:p>
        </p:txBody>
      </p:sp>
      <p:sp>
        <p:nvSpPr>
          <p:cNvPr id="20" name="Shape 18"/>
          <p:cNvSpPr/>
          <p:nvPr/>
        </p:nvSpPr>
        <p:spPr>
          <a:xfrm>
            <a:off x="7315200" y="3090672"/>
            <a:ext cx="128016" cy="128016"/>
          </a:xfrm>
          <a:prstGeom prst="ellipse">
            <a:avLst/>
          </a:prstGeom>
          <a:solidFill>
            <a:srgbClr val="9FD8D0"/>
          </a:solidFill>
          <a:ln/>
        </p:spPr>
        <p:txBody>
          <a:bodyPr/>
          <a:lstStyle/>
          <a:p>
            <a:endParaRPr lang="en-US"/>
          </a:p>
        </p:txBody>
      </p:sp>
      <p:sp>
        <p:nvSpPr>
          <p:cNvPr id="21" name="Text 19"/>
          <p:cNvSpPr/>
          <p:nvPr/>
        </p:nvSpPr>
        <p:spPr>
          <a:xfrm>
            <a:off x="7571232" y="2962656"/>
            <a:ext cx="3749040" cy="502920"/>
          </a:xfrm>
          <a:prstGeom prst="rect">
            <a:avLst/>
          </a:prstGeom>
          <a:noFill/>
          <a:ln/>
        </p:spPr>
        <p:txBody>
          <a:bodyPr wrap="square" rtlCol="0" anchor="ctr"/>
          <a:lstStyle/>
          <a:p>
            <a:pPr marL="0" indent="0">
              <a:buNone/>
            </a:pPr>
            <a:r>
              <a:rPr lang="en-US" sz="1500" dirty="0">
                <a:solidFill>
                  <a:srgbClr val="EAF3F7"/>
                </a:solidFill>
                <a:latin typeface="Calibri" pitchFamily="34" charset="0"/>
                <a:ea typeface="Calibri" pitchFamily="34" charset="-122"/>
                <a:cs typeface="Calibri" pitchFamily="34" charset="-120"/>
              </a:rPr>
              <a:t>Poor posture → Yellow/Blue warning; over 3 minutes → Red LED + brief buzzer.</a:t>
            </a:r>
          </a:p>
        </p:txBody>
      </p:sp>
      <p:sp>
        <p:nvSpPr>
          <p:cNvPr id="22" name="Shape 20"/>
          <p:cNvSpPr/>
          <p:nvPr/>
        </p:nvSpPr>
        <p:spPr>
          <a:xfrm>
            <a:off x="7315200" y="3657600"/>
            <a:ext cx="128016" cy="128016"/>
          </a:xfrm>
          <a:prstGeom prst="ellipse">
            <a:avLst/>
          </a:prstGeom>
          <a:solidFill>
            <a:srgbClr val="9FD8D0"/>
          </a:solidFill>
          <a:ln/>
        </p:spPr>
        <p:txBody>
          <a:bodyPr/>
          <a:lstStyle/>
          <a:p>
            <a:endParaRPr lang="en-US"/>
          </a:p>
        </p:txBody>
      </p:sp>
      <p:sp>
        <p:nvSpPr>
          <p:cNvPr id="23" name="Text 21"/>
          <p:cNvSpPr/>
          <p:nvPr/>
        </p:nvSpPr>
        <p:spPr>
          <a:xfrm>
            <a:off x="7571232" y="3688211"/>
            <a:ext cx="3749040" cy="502920"/>
          </a:xfrm>
          <a:prstGeom prst="rect">
            <a:avLst/>
          </a:prstGeom>
          <a:noFill/>
          <a:ln/>
        </p:spPr>
        <p:txBody>
          <a:bodyPr wrap="square" rtlCol="0" anchor="ctr"/>
          <a:lstStyle/>
          <a:p>
            <a:pPr marL="0" indent="0">
              <a:buNone/>
            </a:pPr>
            <a:r>
              <a:rPr lang="en-US" sz="1500" dirty="0">
                <a:solidFill>
                  <a:srgbClr val="EAF3F7"/>
                </a:solidFill>
                <a:latin typeface="Calibri" pitchFamily="34" charset="0"/>
                <a:ea typeface="Calibri" pitchFamily="34" charset="-122"/>
                <a:cs typeface="Calibri" pitchFamily="34" charset="-120"/>
              </a:rPr>
              <a:t>ESP32-CAM + OV2640 camera; RGB LED; active buzzer; breadboard/jumper wires; USB-C/micro-USB power/programming.</a:t>
            </a:r>
          </a:p>
        </p:txBody>
      </p:sp>
      <p:sp>
        <p:nvSpPr>
          <p:cNvPr id="26" name="Shape 4">
            <a:extLst>
              <a:ext uri="{FF2B5EF4-FFF2-40B4-BE49-F238E27FC236}">
                <a16:creationId xmlns:a16="http://schemas.microsoft.com/office/drawing/2014/main" id="{08FB6117-EF91-7792-DE9E-8A5B0FFE5E2A}"/>
              </a:ext>
            </a:extLst>
          </p:cNvPr>
          <p:cNvSpPr/>
          <p:nvPr/>
        </p:nvSpPr>
        <p:spPr>
          <a:xfrm>
            <a:off x="8805672" y="502920"/>
            <a:ext cx="2834640" cy="384048"/>
          </a:xfrm>
          <a:prstGeom prst="roundRect">
            <a:avLst>
              <a:gd name="adj" fmla="val 19048"/>
            </a:avLst>
          </a:prstGeom>
          <a:solidFill>
            <a:srgbClr val="F4F7F9"/>
          </a:solidFill>
          <a:ln w="12700">
            <a:solidFill>
              <a:srgbClr val="E1E7EB"/>
            </a:solidFill>
            <a:prstDash val="solid"/>
          </a:ln>
        </p:spPr>
        <p:txBody>
          <a:bodyPr/>
          <a:lstStyle/>
          <a:p>
            <a:endParaRPr lang="en-US"/>
          </a:p>
        </p:txBody>
      </p:sp>
      <p:sp>
        <p:nvSpPr>
          <p:cNvPr id="27" name="Text 5">
            <a:extLst>
              <a:ext uri="{FF2B5EF4-FFF2-40B4-BE49-F238E27FC236}">
                <a16:creationId xmlns:a16="http://schemas.microsoft.com/office/drawing/2014/main" id="{24158C80-4FA6-93ED-48F0-2FF8CF5C2C91}"/>
              </a:ext>
            </a:extLst>
          </p:cNvPr>
          <p:cNvSpPr/>
          <p:nvPr/>
        </p:nvSpPr>
        <p:spPr>
          <a:xfrm>
            <a:off x="8942832" y="502920"/>
            <a:ext cx="2606040" cy="384048"/>
          </a:xfrm>
          <a:prstGeom prst="rect">
            <a:avLst/>
          </a:prstGeom>
          <a:noFill/>
          <a:ln/>
        </p:spPr>
        <p:txBody>
          <a:bodyPr wrap="square" rtlCol="0" anchor="ctr"/>
          <a:lstStyle/>
          <a:p>
            <a:pPr marL="0" indent="0">
              <a:buNone/>
            </a:pPr>
            <a:r>
              <a:rPr lang="en-US" sz="1100" b="1" dirty="0">
                <a:solidFill>
                  <a:srgbClr val="21295C"/>
                </a:solidFill>
                <a:latin typeface="Calibri" pitchFamily="34" charset="0"/>
                <a:ea typeface="Calibri" pitchFamily="34" charset="-122"/>
                <a:cs typeface="Calibri" pitchFamily="34" charset="-120"/>
              </a:rPr>
              <a:t>Presented by:  </a:t>
            </a:r>
            <a:r>
              <a:rPr lang="en-US" sz="1100" i="1" dirty="0">
                <a:solidFill>
                  <a:srgbClr val="5B6570"/>
                </a:solidFill>
                <a:latin typeface="Calibri" pitchFamily="34" charset="0"/>
                <a:ea typeface="Calibri" pitchFamily="34" charset="-122"/>
                <a:cs typeface="Calibri" pitchFamily="34" charset="-120"/>
              </a:rPr>
              <a:t>2023/ICTS/40</a:t>
            </a:r>
            <a:endParaRPr lang="en-US" sz="1100" dirty="0"/>
          </a:p>
        </p:txBody>
      </p:sp>
      <p:sp>
        <p:nvSpPr>
          <p:cNvPr id="28" name="Shape 16">
            <a:extLst>
              <a:ext uri="{FF2B5EF4-FFF2-40B4-BE49-F238E27FC236}">
                <a16:creationId xmlns:a16="http://schemas.microsoft.com/office/drawing/2014/main" id="{7C43B246-424F-5386-C73D-FF5806C82683}"/>
              </a:ext>
            </a:extLst>
          </p:cNvPr>
          <p:cNvSpPr/>
          <p:nvPr/>
        </p:nvSpPr>
        <p:spPr>
          <a:xfrm>
            <a:off x="1" y="6472518"/>
            <a:ext cx="12192000" cy="385482"/>
          </a:xfrm>
          <a:prstGeom prst="roundRect">
            <a:avLst>
              <a:gd name="adj" fmla="val 5333"/>
            </a:avLst>
          </a:prstGeom>
          <a:solidFill>
            <a:srgbClr val="0E1228"/>
          </a:solidFill>
          <a:ln/>
        </p:spPr>
        <p:txBody>
          <a:bodyPr/>
          <a:lstStyle/>
          <a:p>
            <a:endParaRPr lang="en-US"/>
          </a:p>
        </p:txBody>
      </p:sp>
      <p:sp>
        <p:nvSpPr>
          <p:cNvPr id="29" name="Text 19">
            <a:extLst>
              <a:ext uri="{FF2B5EF4-FFF2-40B4-BE49-F238E27FC236}">
                <a16:creationId xmlns:a16="http://schemas.microsoft.com/office/drawing/2014/main" id="{0DB332A8-725D-3FA4-2906-9FD8CF1DA18D}"/>
              </a:ext>
            </a:extLst>
          </p:cNvPr>
          <p:cNvSpPr/>
          <p:nvPr/>
        </p:nvSpPr>
        <p:spPr>
          <a:xfrm>
            <a:off x="548640" y="6537960"/>
            <a:ext cx="7315200" cy="274320"/>
          </a:xfrm>
          <a:prstGeom prst="rect">
            <a:avLst/>
          </a:prstGeom>
          <a:noFill/>
          <a:ln/>
        </p:spPr>
        <p:txBody>
          <a:bodyPr wrap="square" rtlCol="0" anchor="ctr"/>
          <a:lstStyle/>
          <a:p>
            <a:pPr marL="0" indent="0">
              <a:buNone/>
            </a:pPr>
            <a:r>
              <a:rPr lang="en-US" sz="1000" i="1" dirty="0">
                <a:solidFill>
                  <a:schemeClr val="bg1"/>
                </a:solidFill>
                <a:latin typeface="Calibri" pitchFamily="34" charset="0"/>
                <a:ea typeface="Calibri" pitchFamily="34" charset="-122"/>
                <a:cs typeface="Calibri" pitchFamily="34" charset="-120"/>
              </a:rPr>
              <a:t>Section: Conclusion &amp; Demo</a:t>
            </a:r>
            <a:endParaRPr lang="en-US" sz="1000" dirty="0">
              <a:solidFill>
                <a:schemeClr val="bg1"/>
              </a:solidFill>
            </a:endParaRPr>
          </a:p>
        </p:txBody>
      </p:sp>
      <p:sp>
        <p:nvSpPr>
          <p:cNvPr id="30" name="Text 20">
            <a:extLst>
              <a:ext uri="{FF2B5EF4-FFF2-40B4-BE49-F238E27FC236}">
                <a16:creationId xmlns:a16="http://schemas.microsoft.com/office/drawing/2014/main" id="{C100DDF1-E05F-93FC-D3CA-FB528DF343DD}"/>
              </a:ext>
            </a:extLst>
          </p:cNvPr>
          <p:cNvSpPr/>
          <p:nvPr/>
        </p:nvSpPr>
        <p:spPr>
          <a:xfrm>
            <a:off x="7434072" y="6537960"/>
            <a:ext cx="4206240" cy="274320"/>
          </a:xfrm>
          <a:prstGeom prst="rect">
            <a:avLst/>
          </a:prstGeom>
          <a:noFill/>
          <a:ln/>
        </p:spPr>
        <p:txBody>
          <a:bodyPr wrap="square" rtlCol="0" anchor="ctr"/>
          <a:lstStyle/>
          <a:p>
            <a:pPr marL="0" indent="0" algn="r">
              <a:buNone/>
            </a:pPr>
            <a:r>
              <a:rPr lang="en-US" sz="1000" dirty="0">
                <a:solidFill>
                  <a:schemeClr val="bg1"/>
                </a:solidFill>
                <a:latin typeface="Calibri" pitchFamily="34" charset="0"/>
                <a:ea typeface="Calibri" pitchFamily="34" charset="-122"/>
                <a:cs typeface="Calibri" pitchFamily="34" charset="-120"/>
              </a:rPr>
              <a:t>TICT 2153 (T) — Human Computer Interaction</a:t>
            </a:r>
            <a:endParaRPr lang="en-US" sz="1000" dirty="0">
              <a:solidFill>
                <a:schemeClr val="bg1"/>
              </a:solidFill>
            </a:endParaRPr>
          </a:p>
        </p:txBody>
      </p:sp>
      <p:pic>
        <p:nvPicPr>
          <p:cNvPr id="7" name="Picture 6">
            <a:extLst>
              <a:ext uri="{FF2B5EF4-FFF2-40B4-BE49-F238E27FC236}">
                <a16:creationId xmlns:a16="http://schemas.microsoft.com/office/drawing/2014/main" id="{D054789A-152B-CA25-42C0-382D1C790367}"/>
              </a:ext>
            </a:extLst>
          </p:cNvPr>
          <p:cNvPicPr>
            <a:picLocks noChangeAspect="1"/>
          </p:cNvPicPr>
          <p:nvPr/>
        </p:nvPicPr>
        <p:blipFill>
          <a:blip r:embed="rId3"/>
          <a:stretch>
            <a:fillRect/>
          </a:stretch>
        </p:blipFill>
        <p:spPr>
          <a:xfrm>
            <a:off x="2770260" y="4840083"/>
            <a:ext cx="1473304" cy="124067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65A82"/>
          </a:solidFill>
          <a:ln/>
        </p:spPr>
        <p:txBody>
          <a:bodyPr/>
          <a:lstStyle/>
          <a:p>
            <a:endParaRPr lang="en-US"/>
          </a:p>
        </p:txBody>
      </p:sp>
      <p:sp>
        <p:nvSpPr>
          <p:cNvPr id="3" name="Text 1"/>
          <p:cNvSpPr/>
          <p:nvPr/>
        </p:nvSpPr>
        <p:spPr>
          <a:xfrm>
            <a:off x="548640" y="502920"/>
            <a:ext cx="457200" cy="45720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4" name="Text 2"/>
          <p:cNvSpPr/>
          <p:nvPr/>
        </p:nvSpPr>
        <p:spPr>
          <a:xfrm>
            <a:off x="1188720" y="411480"/>
            <a:ext cx="7772400" cy="548640"/>
          </a:xfrm>
          <a:prstGeom prst="rect">
            <a:avLst/>
          </a:prstGeom>
          <a:noFill/>
          <a:ln/>
        </p:spPr>
        <p:txBody>
          <a:bodyPr wrap="square" rtlCol="0" anchor="ctr"/>
          <a:lstStyle/>
          <a:p>
            <a:pPr marL="0" indent="0">
              <a:buNone/>
            </a:pPr>
            <a:r>
              <a:rPr lang="en-US" sz="3000" b="1" dirty="0">
                <a:solidFill>
                  <a:srgbClr val="0E1228"/>
                </a:solidFill>
                <a:latin typeface="Cambria" pitchFamily="34" charset="0"/>
                <a:ea typeface="Cambria" pitchFamily="34" charset="-122"/>
                <a:cs typeface="Cambria" pitchFamily="34" charset="-120"/>
              </a:rPr>
              <a:t>Test</a:t>
            </a:r>
            <a:endParaRPr lang="en-US" sz="3000" dirty="0">
              <a:solidFill>
                <a:srgbClr val="0E1228"/>
              </a:solidFill>
            </a:endParaRPr>
          </a:p>
        </p:txBody>
      </p:sp>
      <p:sp>
        <p:nvSpPr>
          <p:cNvPr id="5" name="Text 3"/>
          <p:cNvSpPr/>
          <p:nvPr/>
        </p:nvSpPr>
        <p:spPr>
          <a:xfrm>
            <a:off x="1188720" y="914400"/>
            <a:ext cx="7772400" cy="320040"/>
          </a:xfrm>
          <a:prstGeom prst="rect">
            <a:avLst/>
          </a:prstGeom>
          <a:noFill/>
          <a:ln/>
        </p:spPr>
        <p:txBody>
          <a:bodyPr wrap="square"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Validating the prototype with real users</a:t>
            </a:r>
            <a:endParaRPr lang="en-US" sz="1400" dirty="0"/>
          </a:p>
        </p:txBody>
      </p:sp>
      <p:sp>
        <p:nvSpPr>
          <p:cNvPr id="8" name="Shape 6"/>
          <p:cNvSpPr/>
          <p:nvPr/>
        </p:nvSpPr>
        <p:spPr>
          <a:xfrm>
            <a:off x="548640" y="1417320"/>
            <a:ext cx="11091672" cy="0"/>
          </a:xfrm>
          <a:prstGeom prst="line">
            <a:avLst/>
          </a:prstGeom>
          <a:noFill/>
          <a:ln w="12700">
            <a:solidFill>
              <a:srgbClr val="E1E7EB"/>
            </a:solidFill>
            <a:prstDash val="solid"/>
          </a:ln>
        </p:spPr>
        <p:txBody>
          <a:bodyPr/>
          <a:lstStyle/>
          <a:p>
            <a:endParaRPr lang="en-US"/>
          </a:p>
        </p:txBody>
      </p:sp>
      <p:sp>
        <p:nvSpPr>
          <p:cNvPr id="9" name="Shape 7"/>
          <p:cNvSpPr/>
          <p:nvPr/>
        </p:nvSpPr>
        <p:spPr>
          <a:xfrm>
            <a:off x="548640" y="1737360"/>
            <a:ext cx="6309360" cy="4480560"/>
          </a:xfrm>
          <a:prstGeom prst="roundRect">
            <a:avLst>
              <a:gd name="adj" fmla="val 2041"/>
            </a:avLst>
          </a:prstGeom>
          <a:solidFill>
            <a:srgbClr val="F4F7F9"/>
          </a:solidFill>
          <a:ln w="12700">
            <a:solidFill>
              <a:srgbClr val="E1E7EB"/>
            </a:solidFill>
            <a:prstDash val="solid"/>
          </a:ln>
        </p:spPr>
        <p:txBody>
          <a:bodyPr/>
          <a:lstStyle/>
          <a:p>
            <a:endParaRPr lang="en-US"/>
          </a:p>
        </p:txBody>
      </p:sp>
      <p:sp>
        <p:nvSpPr>
          <p:cNvPr id="10" name="Text 8"/>
          <p:cNvSpPr/>
          <p:nvPr/>
        </p:nvSpPr>
        <p:spPr>
          <a:xfrm>
            <a:off x="822960" y="1920240"/>
            <a:ext cx="5760720" cy="365760"/>
          </a:xfrm>
          <a:prstGeom prst="rect">
            <a:avLst/>
          </a:prstGeom>
          <a:noFill/>
          <a:ln/>
        </p:spPr>
        <p:txBody>
          <a:bodyPr wrap="square" rtlCol="0" anchor="ctr"/>
          <a:lstStyle/>
          <a:p>
            <a:pPr marL="0" indent="0">
              <a:buNone/>
            </a:pPr>
            <a:r>
              <a:rPr lang="en-US" b="1" dirty="0">
                <a:solidFill>
                  <a:srgbClr val="21295C"/>
                </a:solidFill>
                <a:latin typeface="Cambria" pitchFamily="34" charset="0"/>
                <a:ea typeface="Cambria" pitchFamily="34" charset="-122"/>
                <a:cs typeface="Cambria" pitchFamily="34" charset="-120"/>
              </a:rPr>
              <a:t>Testing Summary</a:t>
            </a:r>
            <a:endParaRPr lang="en-US" dirty="0"/>
          </a:p>
        </p:txBody>
      </p:sp>
      <p:sp>
        <p:nvSpPr>
          <p:cNvPr id="11" name="Text 9"/>
          <p:cNvSpPr/>
          <p:nvPr/>
        </p:nvSpPr>
        <p:spPr>
          <a:xfrm>
            <a:off x="822960" y="2377439"/>
            <a:ext cx="5760720" cy="1655065"/>
          </a:xfrm>
          <a:prstGeom prst="rect">
            <a:avLst/>
          </a:prstGeom>
          <a:noFill/>
          <a:ln/>
        </p:spPr>
        <p:txBody>
          <a:bodyPr wrap="square" rtlCol="0" anchor="ctr"/>
          <a:lstStyle/>
          <a:p>
            <a:pPr marL="0" indent="0">
              <a:lnSpc>
                <a:spcPct val="130000"/>
              </a:lnSpc>
              <a:buNone/>
            </a:pPr>
            <a:r>
              <a:rPr lang="en-US" sz="1500" i="1" dirty="0">
                <a:solidFill>
                  <a:srgbClr val="1B1F24"/>
                </a:solidFill>
                <a:latin typeface="Calibri" pitchFamily="34" charset="0"/>
                <a:ea typeface="Calibri" pitchFamily="34" charset="-122"/>
                <a:cs typeface="Calibri" pitchFamily="34" charset="-120"/>
              </a:rPr>
              <a:t>We will test:</a:t>
            </a:r>
          </a:p>
          <a:p>
            <a:pPr marL="0" indent="0">
              <a:lnSpc>
                <a:spcPct val="130000"/>
              </a:lnSpc>
              <a:buNone/>
            </a:pPr>
            <a:r>
              <a:rPr lang="en-US" sz="1500" i="1" dirty="0">
                <a:solidFill>
                  <a:srgbClr val="1B1F24"/>
                </a:solidFill>
                <a:latin typeface="Calibri" pitchFamily="34" charset="0"/>
                <a:ea typeface="Calibri" pitchFamily="34" charset="-122"/>
                <a:cs typeface="Calibri" pitchFamily="34" charset="-120"/>
              </a:rPr>
              <a:t>•  Check posture-tracking accuracy using the ESP32-CAM.</a:t>
            </a:r>
          </a:p>
          <a:p>
            <a:pPr marL="0" indent="0">
              <a:lnSpc>
                <a:spcPct val="130000"/>
              </a:lnSpc>
              <a:buNone/>
            </a:pPr>
            <a:r>
              <a:rPr lang="en-US" sz="1500" i="1" dirty="0">
                <a:solidFill>
                  <a:srgbClr val="1B1F24"/>
                </a:solidFill>
                <a:latin typeface="Calibri" pitchFamily="34" charset="0"/>
                <a:ea typeface="Calibri" pitchFamily="34" charset="-122"/>
                <a:cs typeface="Calibri" pitchFamily="34" charset="-120"/>
              </a:rPr>
              <a:t>• Evaluate user comfort during the 3-minute warning buffer.</a:t>
            </a:r>
          </a:p>
          <a:p>
            <a:pPr marL="0" indent="0">
              <a:lnSpc>
                <a:spcPct val="130000"/>
              </a:lnSpc>
              <a:buNone/>
            </a:pPr>
            <a:r>
              <a:rPr lang="en-US" sz="1500" i="1" dirty="0">
                <a:solidFill>
                  <a:srgbClr val="1B1F24"/>
                </a:solidFill>
                <a:latin typeface="Calibri" pitchFamily="34" charset="0"/>
                <a:ea typeface="Calibri" pitchFamily="34" charset="-122"/>
                <a:cs typeface="Calibri" pitchFamily="34" charset="-120"/>
              </a:rPr>
              <a:t>• Evaluate whether the final alert is effective without being overly disruptive.</a:t>
            </a:r>
          </a:p>
        </p:txBody>
      </p:sp>
      <p:sp>
        <p:nvSpPr>
          <p:cNvPr id="16" name="Shape 14"/>
          <p:cNvSpPr/>
          <p:nvPr/>
        </p:nvSpPr>
        <p:spPr>
          <a:xfrm>
            <a:off x="7040880" y="1737360"/>
            <a:ext cx="4572000" cy="4480560"/>
          </a:xfrm>
          <a:prstGeom prst="roundRect">
            <a:avLst>
              <a:gd name="adj" fmla="val 2041"/>
            </a:avLst>
          </a:prstGeom>
          <a:solidFill>
            <a:srgbClr val="065A82"/>
          </a:solidFill>
          <a:ln/>
        </p:spPr>
        <p:txBody>
          <a:bodyPr/>
          <a:lstStyle/>
          <a:p>
            <a:endParaRPr lang="en-US"/>
          </a:p>
        </p:txBody>
      </p:sp>
      <p:sp>
        <p:nvSpPr>
          <p:cNvPr id="17" name="Text 15"/>
          <p:cNvSpPr/>
          <p:nvPr/>
        </p:nvSpPr>
        <p:spPr>
          <a:xfrm>
            <a:off x="7315200" y="1965960"/>
            <a:ext cx="402336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Feedback &amp; Improvements</a:t>
            </a:r>
            <a:endParaRPr lang="en-US" sz="1600" dirty="0"/>
          </a:p>
        </p:txBody>
      </p:sp>
      <p:sp>
        <p:nvSpPr>
          <p:cNvPr id="18" name="Shape 16"/>
          <p:cNvSpPr/>
          <p:nvPr/>
        </p:nvSpPr>
        <p:spPr>
          <a:xfrm>
            <a:off x="7315200" y="2523744"/>
            <a:ext cx="128016" cy="128016"/>
          </a:xfrm>
          <a:prstGeom prst="ellipse">
            <a:avLst/>
          </a:prstGeom>
          <a:solidFill>
            <a:srgbClr val="9FD8D0"/>
          </a:solidFill>
          <a:ln/>
        </p:spPr>
        <p:txBody>
          <a:bodyPr/>
          <a:lstStyle/>
          <a:p>
            <a:endParaRPr lang="en-US"/>
          </a:p>
        </p:txBody>
      </p:sp>
      <p:sp>
        <p:nvSpPr>
          <p:cNvPr id="19" name="Text 17"/>
          <p:cNvSpPr/>
          <p:nvPr/>
        </p:nvSpPr>
        <p:spPr>
          <a:xfrm>
            <a:off x="7571232" y="2395728"/>
            <a:ext cx="3749040" cy="502920"/>
          </a:xfrm>
          <a:prstGeom prst="rect">
            <a:avLst/>
          </a:prstGeom>
          <a:noFill/>
          <a:ln/>
        </p:spPr>
        <p:txBody>
          <a:bodyPr wrap="square" rtlCol="0" anchor="ctr"/>
          <a:lstStyle/>
          <a:p>
            <a:pPr marL="0" indent="0">
              <a:buNone/>
            </a:pPr>
            <a:r>
              <a:rPr lang="en-US" sz="1500" dirty="0">
                <a:solidFill>
                  <a:srgbClr val="EAF3F7"/>
                </a:solidFill>
                <a:latin typeface="Calibri" pitchFamily="34" charset="0"/>
                <a:ea typeface="Calibri" pitchFamily="34" charset="-122"/>
                <a:cs typeface="Calibri" pitchFamily="34" charset="-120"/>
              </a:rPr>
              <a:t>Accuracy → check posture tracking.</a:t>
            </a:r>
          </a:p>
        </p:txBody>
      </p:sp>
      <p:sp>
        <p:nvSpPr>
          <p:cNvPr id="20" name="Shape 18"/>
          <p:cNvSpPr/>
          <p:nvPr/>
        </p:nvSpPr>
        <p:spPr>
          <a:xfrm>
            <a:off x="7315200" y="3090672"/>
            <a:ext cx="128016" cy="128016"/>
          </a:xfrm>
          <a:prstGeom prst="ellipse">
            <a:avLst/>
          </a:prstGeom>
          <a:solidFill>
            <a:srgbClr val="9FD8D0"/>
          </a:solidFill>
          <a:ln/>
        </p:spPr>
        <p:txBody>
          <a:bodyPr/>
          <a:lstStyle/>
          <a:p>
            <a:endParaRPr lang="en-US"/>
          </a:p>
        </p:txBody>
      </p:sp>
      <p:sp>
        <p:nvSpPr>
          <p:cNvPr id="21" name="Text 19"/>
          <p:cNvSpPr/>
          <p:nvPr/>
        </p:nvSpPr>
        <p:spPr>
          <a:xfrm>
            <a:off x="7571232" y="2962656"/>
            <a:ext cx="3749040" cy="502920"/>
          </a:xfrm>
          <a:prstGeom prst="rect">
            <a:avLst/>
          </a:prstGeom>
          <a:noFill/>
          <a:ln/>
        </p:spPr>
        <p:txBody>
          <a:bodyPr wrap="square" rtlCol="0" anchor="ctr"/>
          <a:lstStyle/>
          <a:p>
            <a:pPr marL="0" indent="0">
              <a:buNone/>
            </a:pPr>
            <a:r>
              <a:rPr lang="en-US" sz="1500" dirty="0">
                <a:solidFill>
                  <a:srgbClr val="EAF3F7"/>
                </a:solidFill>
                <a:latin typeface="Calibri" pitchFamily="34" charset="0"/>
                <a:ea typeface="Calibri" pitchFamily="34" charset="-122"/>
                <a:cs typeface="Calibri" pitchFamily="34" charset="-120"/>
              </a:rPr>
              <a:t>Comfort → check the 3-minute buffer.</a:t>
            </a:r>
          </a:p>
        </p:txBody>
      </p:sp>
      <p:sp>
        <p:nvSpPr>
          <p:cNvPr id="22" name="Shape 20"/>
          <p:cNvSpPr/>
          <p:nvPr/>
        </p:nvSpPr>
        <p:spPr>
          <a:xfrm>
            <a:off x="7315200" y="3657600"/>
            <a:ext cx="128016" cy="128016"/>
          </a:xfrm>
          <a:prstGeom prst="ellipse">
            <a:avLst/>
          </a:prstGeom>
          <a:solidFill>
            <a:srgbClr val="9FD8D0"/>
          </a:solidFill>
          <a:ln/>
        </p:spPr>
        <p:txBody>
          <a:bodyPr/>
          <a:lstStyle/>
          <a:p>
            <a:endParaRPr lang="en-US"/>
          </a:p>
        </p:txBody>
      </p:sp>
      <p:sp>
        <p:nvSpPr>
          <p:cNvPr id="23" name="Text 21"/>
          <p:cNvSpPr/>
          <p:nvPr/>
        </p:nvSpPr>
        <p:spPr>
          <a:xfrm>
            <a:off x="7571232" y="3529584"/>
            <a:ext cx="3749040" cy="502920"/>
          </a:xfrm>
          <a:prstGeom prst="rect">
            <a:avLst/>
          </a:prstGeom>
          <a:noFill/>
          <a:ln/>
        </p:spPr>
        <p:txBody>
          <a:bodyPr wrap="square" rtlCol="0" anchor="ctr"/>
          <a:lstStyle/>
          <a:p>
            <a:pPr marL="0" indent="0">
              <a:buNone/>
            </a:pPr>
            <a:r>
              <a:rPr lang="en-US" sz="1500" dirty="0">
                <a:solidFill>
                  <a:srgbClr val="EAF3F7"/>
                </a:solidFill>
                <a:latin typeface="Calibri" pitchFamily="34" charset="0"/>
                <a:ea typeface="Calibri" pitchFamily="34" charset="-122"/>
                <a:cs typeface="Calibri" pitchFamily="34" charset="-120"/>
              </a:rPr>
              <a:t>Alerts → check if the buzzer is useful.</a:t>
            </a:r>
          </a:p>
        </p:txBody>
      </p:sp>
      <p:sp>
        <p:nvSpPr>
          <p:cNvPr id="26" name="Shape 4">
            <a:extLst>
              <a:ext uri="{FF2B5EF4-FFF2-40B4-BE49-F238E27FC236}">
                <a16:creationId xmlns:a16="http://schemas.microsoft.com/office/drawing/2014/main" id="{C4A19BA0-0D90-6C08-D17F-138A0667C485}"/>
              </a:ext>
            </a:extLst>
          </p:cNvPr>
          <p:cNvSpPr/>
          <p:nvPr/>
        </p:nvSpPr>
        <p:spPr>
          <a:xfrm>
            <a:off x="8805672" y="502920"/>
            <a:ext cx="2834640" cy="384048"/>
          </a:xfrm>
          <a:prstGeom prst="roundRect">
            <a:avLst>
              <a:gd name="adj" fmla="val 19048"/>
            </a:avLst>
          </a:prstGeom>
          <a:solidFill>
            <a:srgbClr val="F4F7F9"/>
          </a:solidFill>
          <a:ln w="12700">
            <a:solidFill>
              <a:srgbClr val="E1E7EB"/>
            </a:solidFill>
            <a:prstDash val="solid"/>
          </a:ln>
        </p:spPr>
        <p:txBody>
          <a:bodyPr/>
          <a:lstStyle/>
          <a:p>
            <a:endParaRPr lang="en-US"/>
          </a:p>
        </p:txBody>
      </p:sp>
      <p:sp>
        <p:nvSpPr>
          <p:cNvPr id="27" name="Text 5">
            <a:extLst>
              <a:ext uri="{FF2B5EF4-FFF2-40B4-BE49-F238E27FC236}">
                <a16:creationId xmlns:a16="http://schemas.microsoft.com/office/drawing/2014/main" id="{FC7ABF3A-34A3-F3CF-9137-86FFE9132CFE}"/>
              </a:ext>
            </a:extLst>
          </p:cNvPr>
          <p:cNvSpPr/>
          <p:nvPr/>
        </p:nvSpPr>
        <p:spPr>
          <a:xfrm>
            <a:off x="8942832" y="502920"/>
            <a:ext cx="2606040" cy="384048"/>
          </a:xfrm>
          <a:prstGeom prst="rect">
            <a:avLst/>
          </a:prstGeom>
          <a:noFill/>
          <a:ln/>
        </p:spPr>
        <p:txBody>
          <a:bodyPr wrap="square" rtlCol="0" anchor="ctr"/>
          <a:lstStyle/>
          <a:p>
            <a:pPr marL="0" indent="0">
              <a:buNone/>
            </a:pPr>
            <a:r>
              <a:rPr lang="en-US" sz="1100" b="1" dirty="0">
                <a:solidFill>
                  <a:srgbClr val="21295C"/>
                </a:solidFill>
                <a:latin typeface="Calibri" pitchFamily="34" charset="0"/>
                <a:ea typeface="Calibri" pitchFamily="34" charset="-122"/>
                <a:cs typeface="Calibri" pitchFamily="34" charset="-120"/>
              </a:rPr>
              <a:t>Presented by:  </a:t>
            </a:r>
            <a:r>
              <a:rPr lang="en-US" sz="1100" i="1" dirty="0">
                <a:solidFill>
                  <a:srgbClr val="5B6570"/>
                </a:solidFill>
                <a:latin typeface="Calibri" pitchFamily="34" charset="0"/>
                <a:ea typeface="Calibri" pitchFamily="34" charset="-122"/>
                <a:cs typeface="Calibri" pitchFamily="34" charset="-120"/>
              </a:rPr>
              <a:t>2023/ICTS/</a:t>
            </a:r>
            <a:r>
              <a:rPr lang="en-US" sz="1100" i="1">
                <a:solidFill>
                  <a:srgbClr val="5B6570"/>
                </a:solidFill>
                <a:latin typeface="Calibri" pitchFamily="34" charset="0"/>
                <a:ea typeface="Calibri" pitchFamily="34" charset="-122"/>
                <a:cs typeface="Calibri" pitchFamily="34" charset="-120"/>
              </a:rPr>
              <a:t>39 </a:t>
            </a:r>
            <a:endParaRPr lang="en-US" sz="1100" i="1" dirty="0">
              <a:solidFill>
                <a:srgbClr val="5B6570"/>
              </a:solidFill>
              <a:latin typeface="Calibri" pitchFamily="34" charset="0"/>
              <a:ea typeface="Calibri" pitchFamily="34" charset="-122"/>
              <a:cs typeface="Calibri" pitchFamily="34" charset="-120"/>
            </a:endParaRPr>
          </a:p>
        </p:txBody>
      </p:sp>
      <p:sp>
        <p:nvSpPr>
          <p:cNvPr id="28" name="Shape 16">
            <a:extLst>
              <a:ext uri="{FF2B5EF4-FFF2-40B4-BE49-F238E27FC236}">
                <a16:creationId xmlns:a16="http://schemas.microsoft.com/office/drawing/2014/main" id="{6CC8AAAA-EABF-0833-5945-7695676592B6}"/>
              </a:ext>
            </a:extLst>
          </p:cNvPr>
          <p:cNvSpPr/>
          <p:nvPr/>
        </p:nvSpPr>
        <p:spPr>
          <a:xfrm>
            <a:off x="1" y="6472518"/>
            <a:ext cx="12192000" cy="385482"/>
          </a:xfrm>
          <a:prstGeom prst="roundRect">
            <a:avLst>
              <a:gd name="adj" fmla="val 5333"/>
            </a:avLst>
          </a:prstGeom>
          <a:solidFill>
            <a:srgbClr val="0E1228"/>
          </a:solidFill>
          <a:ln/>
        </p:spPr>
        <p:txBody>
          <a:bodyPr/>
          <a:lstStyle/>
          <a:p>
            <a:endParaRPr lang="en-US"/>
          </a:p>
        </p:txBody>
      </p:sp>
      <p:sp>
        <p:nvSpPr>
          <p:cNvPr id="29" name="Text 19">
            <a:extLst>
              <a:ext uri="{FF2B5EF4-FFF2-40B4-BE49-F238E27FC236}">
                <a16:creationId xmlns:a16="http://schemas.microsoft.com/office/drawing/2014/main" id="{C545FF37-E7F1-8BD8-1E83-49DB0C263B83}"/>
              </a:ext>
            </a:extLst>
          </p:cNvPr>
          <p:cNvSpPr/>
          <p:nvPr/>
        </p:nvSpPr>
        <p:spPr>
          <a:xfrm>
            <a:off x="548640" y="6537960"/>
            <a:ext cx="7315200" cy="274320"/>
          </a:xfrm>
          <a:prstGeom prst="rect">
            <a:avLst/>
          </a:prstGeom>
          <a:noFill/>
          <a:ln/>
        </p:spPr>
        <p:txBody>
          <a:bodyPr wrap="square" rtlCol="0" anchor="ctr"/>
          <a:lstStyle/>
          <a:p>
            <a:pPr marL="0" indent="0">
              <a:buNone/>
            </a:pPr>
            <a:r>
              <a:rPr lang="en-US" sz="1000" i="1" dirty="0">
                <a:solidFill>
                  <a:schemeClr val="bg1"/>
                </a:solidFill>
                <a:latin typeface="Calibri" pitchFamily="34" charset="0"/>
                <a:ea typeface="Calibri" pitchFamily="34" charset="-122"/>
                <a:cs typeface="Calibri" pitchFamily="34" charset="-120"/>
              </a:rPr>
              <a:t>Section: Conclusion &amp; Demo</a:t>
            </a:r>
            <a:endParaRPr lang="en-US" sz="1000" dirty="0">
              <a:solidFill>
                <a:schemeClr val="bg1"/>
              </a:solidFill>
            </a:endParaRPr>
          </a:p>
        </p:txBody>
      </p:sp>
      <p:sp>
        <p:nvSpPr>
          <p:cNvPr id="30" name="Text 20">
            <a:extLst>
              <a:ext uri="{FF2B5EF4-FFF2-40B4-BE49-F238E27FC236}">
                <a16:creationId xmlns:a16="http://schemas.microsoft.com/office/drawing/2014/main" id="{99A6BEC8-852F-45D1-CEF2-91F089EA06F9}"/>
              </a:ext>
            </a:extLst>
          </p:cNvPr>
          <p:cNvSpPr/>
          <p:nvPr/>
        </p:nvSpPr>
        <p:spPr>
          <a:xfrm>
            <a:off x="7434072" y="6537960"/>
            <a:ext cx="4206240" cy="274320"/>
          </a:xfrm>
          <a:prstGeom prst="rect">
            <a:avLst/>
          </a:prstGeom>
          <a:noFill/>
          <a:ln/>
        </p:spPr>
        <p:txBody>
          <a:bodyPr wrap="square" rtlCol="0" anchor="ctr"/>
          <a:lstStyle/>
          <a:p>
            <a:pPr marL="0" indent="0" algn="r">
              <a:buNone/>
            </a:pPr>
            <a:r>
              <a:rPr lang="en-US" sz="1000" dirty="0">
                <a:solidFill>
                  <a:schemeClr val="bg1"/>
                </a:solidFill>
                <a:latin typeface="Calibri" pitchFamily="34" charset="0"/>
                <a:ea typeface="Calibri" pitchFamily="34" charset="-122"/>
                <a:cs typeface="Calibri" pitchFamily="34" charset="-120"/>
              </a:rPr>
              <a:t>TICT 2153 (T) — Human Computer Interaction</a:t>
            </a:r>
            <a:endParaRPr lang="en-US" sz="1000" dirty="0">
              <a:solidFill>
                <a:schemeClr val="bg1"/>
              </a:solidFill>
            </a:endParaRPr>
          </a:p>
        </p:txBody>
      </p:sp>
      <p:pic>
        <p:nvPicPr>
          <p:cNvPr id="7" name="Picture 6" descr="A diagram of a person sitting at a desk&#10;&#10;AI-generated content may be incorrect.">
            <a:extLst>
              <a:ext uri="{FF2B5EF4-FFF2-40B4-BE49-F238E27FC236}">
                <a16:creationId xmlns:a16="http://schemas.microsoft.com/office/drawing/2014/main" id="{2B3E4BFE-653C-E188-6C07-FACE11E7C608}"/>
              </a:ext>
            </a:extLst>
          </p:cNvPr>
          <p:cNvPicPr>
            <a:picLocks noChangeAspect="1"/>
          </p:cNvPicPr>
          <p:nvPr/>
        </p:nvPicPr>
        <p:blipFill>
          <a:blip r:embed="rId3"/>
          <a:stretch>
            <a:fillRect/>
          </a:stretch>
        </p:blipFill>
        <p:spPr>
          <a:xfrm>
            <a:off x="1315616" y="3977640"/>
            <a:ext cx="4262886" cy="22184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1295C"/>
          </a:solidFill>
          <a:ln/>
        </p:spPr>
        <p:txBody>
          <a:bodyPr/>
          <a:lstStyle/>
          <a:p>
            <a:endParaRPr lang="en-US"/>
          </a:p>
        </p:txBody>
      </p:sp>
      <p:sp>
        <p:nvSpPr>
          <p:cNvPr id="25" name="Shape 16">
            <a:extLst>
              <a:ext uri="{FF2B5EF4-FFF2-40B4-BE49-F238E27FC236}">
                <a16:creationId xmlns:a16="http://schemas.microsoft.com/office/drawing/2014/main" id="{2932DE28-3057-486B-5B69-8F6B73C31DFF}"/>
              </a:ext>
            </a:extLst>
          </p:cNvPr>
          <p:cNvSpPr/>
          <p:nvPr/>
        </p:nvSpPr>
        <p:spPr>
          <a:xfrm>
            <a:off x="1" y="6472518"/>
            <a:ext cx="12192000" cy="385482"/>
          </a:xfrm>
          <a:prstGeom prst="roundRect">
            <a:avLst>
              <a:gd name="adj" fmla="val 5333"/>
            </a:avLst>
          </a:prstGeom>
          <a:solidFill>
            <a:srgbClr val="0E1228"/>
          </a:solidFill>
          <a:ln/>
        </p:spPr>
        <p:txBody>
          <a:bodyPr/>
          <a:lstStyle/>
          <a:p>
            <a:endParaRPr lang="en-US"/>
          </a:p>
        </p:txBody>
      </p:sp>
      <p:sp>
        <p:nvSpPr>
          <p:cNvPr id="7" name="Text 5"/>
          <p:cNvSpPr/>
          <p:nvPr/>
        </p:nvSpPr>
        <p:spPr>
          <a:xfrm>
            <a:off x="838200" y="1403884"/>
            <a:ext cx="10515600" cy="822960"/>
          </a:xfrm>
          <a:prstGeom prst="rect">
            <a:avLst/>
          </a:prstGeom>
          <a:noFill/>
          <a:ln/>
        </p:spPr>
        <p:txBody>
          <a:bodyPr wrap="square" rtlCol="0" anchor="ctr"/>
          <a:lstStyle/>
          <a:p>
            <a:pPr marL="0" indent="0" algn="ctr">
              <a:buNone/>
            </a:pPr>
            <a:r>
              <a:rPr lang="en-US" sz="4200" b="1" dirty="0">
                <a:solidFill>
                  <a:srgbClr val="FFFFFF"/>
                </a:solidFill>
                <a:latin typeface="Cambria" pitchFamily="34" charset="0"/>
                <a:ea typeface="Cambria" pitchFamily="34" charset="-122"/>
                <a:cs typeface="Cambria" pitchFamily="34" charset="-120"/>
              </a:rPr>
              <a:t>Conclusion &amp; Live Demonstration</a:t>
            </a:r>
            <a:endParaRPr lang="en-US" sz="4200" dirty="0"/>
          </a:p>
        </p:txBody>
      </p:sp>
      <p:sp>
        <p:nvSpPr>
          <p:cNvPr id="8" name="Text 6"/>
          <p:cNvSpPr/>
          <p:nvPr/>
        </p:nvSpPr>
        <p:spPr>
          <a:xfrm>
            <a:off x="822960" y="2340864"/>
            <a:ext cx="10515600" cy="1371600"/>
          </a:xfrm>
          <a:prstGeom prst="rect">
            <a:avLst/>
          </a:prstGeom>
          <a:noFill/>
          <a:ln/>
        </p:spPr>
        <p:txBody>
          <a:bodyPr wrap="square" rtlCol="0" anchor="ctr"/>
          <a:lstStyle/>
          <a:p>
            <a:pPr marL="0" indent="0" algn="ctr">
              <a:buNone/>
            </a:pPr>
            <a:r>
              <a:rPr lang="en-US" sz="1600" i="1" dirty="0">
                <a:solidFill>
                  <a:srgbClr val="CADCFC"/>
                </a:solidFill>
                <a:latin typeface="Calibri" pitchFamily="34" charset="0"/>
                <a:ea typeface="Calibri" pitchFamily="34" charset="-122"/>
                <a:cs typeface="Calibri" pitchFamily="34" charset="-120"/>
              </a:rPr>
              <a:t>Group 5 developed a concept for a </a:t>
            </a:r>
            <a:r>
              <a:rPr lang="en-US" sz="1600" i="1" dirty="0">
                <a:solidFill>
                  <a:srgbClr val="C2D4F4"/>
                </a:solidFill>
              </a:rPr>
              <a:t>standalone Ergonomic Posture Monitor for computer users. The proposed system combines ESP32-CAM posture tracking with a 3-tier progressive feedback mechanism: Green for good posture, Yellow/Blue for a temporary warning, and Red plus a brief buzzer after more than 3 minutes of persistent poor posture. The design aims to encourage self-correction while avoiding digital notification fatigue</a:t>
            </a:r>
            <a:r>
              <a:rPr lang="en-US" sz="1600" i="1" dirty="0">
                <a:solidFill>
                  <a:srgbClr val="A3B4D7"/>
                </a:solidFill>
              </a:rPr>
              <a:t>.</a:t>
            </a:r>
          </a:p>
          <a:p>
            <a:pPr marL="0" indent="0" algn="ctr">
              <a:buNone/>
            </a:pPr>
            <a:br>
              <a:rPr lang="en-US" sz="1600" i="1" dirty="0">
                <a:solidFill>
                  <a:srgbClr val="A3B4D7"/>
                </a:solidFill>
              </a:rPr>
            </a:br>
            <a:r>
              <a:rPr lang="en-US" sz="1600" dirty="0">
                <a:solidFill>
                  <a:srgbClr val="C2D4F4"/>
                </a:solidFill>
              </a:rPr>
              <a:t>LIVE DEMONSTRATION: Show the prototype and demonstrate the three feedback states</a:t>
            </a:r>
            <a:r>
              <a:rPr lang="en-US" sz="1600" dirty="0"/>
              <a:t>.</a:t>
            </a:r>
            <a:endParaRPr lang="en-US" sz="1600" i="1" dirty="0">
              <a:solidFill>
                <a:srgbClr val="A3B4D7"/>
              </a:solidFill>
            </a:endParaRPr>
          </a:p>
        </p:txBody>
      </p:sp>
      <p:sp>
        <p:nvSpPr>
          <p:cNvPr id="16" name="Text 14"/>
          <p:cNvSpPr/>
          <p:nvPr/>
        </p:nvSpPr>
        <p:spPr>
          <a:xfrm>
            <a:off x="6309360" y="4055364"/>
            <a:ext cx="548640" cy="457200"/>
          </a:xfrm>
          <a:prstGeom prst="rect">
            <a:avLst/>
          </a:prstGeom>
          <a:noFill/>
          <a:ln/>
        </p:spPr>
        <p:txBody>
          <a:bodyPr wrap="square" rtlCol="0" anchor="ctr"/>
          <a:lstStyle/>
          <a:p>
            <a:pPr marL="0" indent="0">
              <a:buNone/>
            </a:pPr>
            <a:endParaRPr lang="en-US" sz="2200" dirty="0"/>
          </a:p>
        </p:txBody>
      </p:sp>
      <p:sp>
        <p:nvSpPr>
          <p:cNvPr id="18" name="Shape 16"/>
          <p:cNvSpPr/>
          <p:nvPr/>
        </p:nvSpPr>
        <p:spPr>
          <a:xfrm>
            <a:off x="1122219" y="3918204"/>
            <a:ext cx="9947563" cy="1371600"/>
          </a:xfrm>
          <a:prstGeom prst="roundRect">
            <a:avLst>
              <a:gd name="adj" fmla="val 5333"/>
            </a:avLst>
          </a:prstGeom>
          <a:solidFill>
            <a:srgbClr val="FFFFFF"/>
          </a:solidFill>
          <a:ln/>
        </p:spPr>
        <p:txBody>
          <a:bodyPr/>
          <a:lstStyle/>
          <a:p>
            <a:endParaRPr lang="en-US"/>
          </a:p>
        </p:txBody>
      </p:sp>
      <p:sp>
        <p:nvSpPr>
          <p:cNvPr id="20" name="Text 18"/>
          <p:cNvSpPr/>
          <p:nvPr/>
        </p:nvSpPr>
        <p:spPr>
          <a:xfrm>
            <a:off x="1122219" y="4261104"/>
            <a:ext cx="9947563" cy="685800"/>
          </a:xfrm>
          <a:prstGeom prst="rect">
            <a:avLst/>
          </a:prstGeom>
          <a:noFill/>
          <a:ln/>
        </p:spPr>
        <p:txBody>
          <a:bodyPr wrap="square" rtlCol="0" anchor="ctr"/>
          <a:lstStyle/>
          <a:p>
            <a:pPr marL="0" indent="0" algn="ctr">
              <a:buNone/>
            </a:pPr>
            <a:r>
              <a:rPr lang="en-US" sz="4000" b="1" dirty="0">
                <a:solidFill>
                  <a:srgbClr val="0E1228"/>
                </a:solidFill>
                <a:latin typeface="Cambria" panose="02040503050406030204" pitchFamily="18" charset="0"/>
                <a:ea typeface="Cambria" panose="02040503050406030204" pitchFamily="18" charset="0"/>
                <a:cs typeface="Calibri" pitchFamily="34" charset="-120"/>
              </a:rPr>
              <a:t>Thank you! Questions?</a:t>
            </a:r>
            <a:endParaRPr lang="en-US" sz="4000" b="1" dirty="0">
              <a:solidFill>
                <a:srgbClr val="0E1228"/>
              </a:solidFill>
              <a:latin typeface="Cambria" panose="02040503050406030204" pitchFamily="18" charset="0"/>
              <a:ea typeface="Cambria" panose="02040503050406030204" pitchFamily="18" charset="0"/>
            </a:endParaRPr>
          </a:p>
        </p:txBody>
      </p:sp>
      <p:sp>
        <p:nvSpPr>
          <p:cNvPr id="21" name="Text 19"/>
          <p:cNvSpPr/>
          <p:nvPr/>
        </p:nvSpPr>
        <p:spPr>
          <a:xfrm>
            <a:off x="548640" y="6537960"/>
            <a:ext cx="7315200" cy="274320"/>
          </a:xfrm>
          <a:prstGeom prst="rect">
            <a:avLst/>
          </a:prstGeom>
          <a:noFill/>
          <a:ln/>
        </p:spPr>
        <p:txBody>
          <a:bodyPr wrap="square" rtlCol="0" anchor="ctr"/>
          <a:lstStyle/>
          <a:p>
            <a:pPr marL="0" indent="0">
              <a:buNone/>
            </a:pPr>
            <a:r>
              <a:rPr lang="en-US" sz="1000" i="1" dirty="0">
                <a:solidFill>
                  <a:schemeClr val="bg1"/>
                </a:solidFill>
                <a:latin typeface="Calibri" pitchFamily="34" charset="0"/>
                <a:ea typeface="Calibri" pitchFamily="34" charset="-122"/>
                <a:cs typeface="Calibri" pitchFamily="34" charset="-120"/>
              </a:rPr>
              <a:t>Section: Conclusion &amp; Demo</a:t>
            </a:r>
            <a:endParaRPr lang="en-US" sz="1000" dirty="0">
              <a:solidFill>
                <a:schemeClr val="bg1"/>
              </a:solidFill>
            </a:endParaRPr>
          </a:p>
        </p:txBody>
      </p:sp>
      <p:sp>
        <p:nvSpPr>
          <p:cNvPr id="22" name="Text 20"/>
          <p:cNvSpPr/>
          <p:nvPr/>
        </p:nvSpPr>
        <p:spPr>
          <a:xfrm>
            <a:off x="7434072" y="6537960"/>
            <a:ext cx="4206240" cy="274320"/>
          </a:xfrm>
          <a:prstGeom prst="rect">
            <a:avLst/>
          </a:prstGeom>
          <a:noFill/>
          <a:ln/>
        </p:spPr>
        <p:txBody>
          <a:bodyPr wrap="square" rtlCol="0" anchor="ctr"/>
          <a:lstStyle/>
          <a:p>
            <a:pPr marL="0" indent="0" algn="r">
              <a:buNone/>
            </a:pPr>
            <a:r>
              <a:rPr lang="en-US" sz="1000" dirty="0">
                <a:solidFill>
                  <a:schemeClr val="bg1"/>
                </a:solidFill>
                <a:latin typeface="Calibri" pitchFamily="34" charset="0"/>
                <a:ea typeface="Calibri" pitchFamily="34" charset="-122"/>
                <a:cs typeface="Calibri" pitchFamily="34" charset="-120"/>
              </a:rPr>
              <a:t>TICT 2153 (T) — Human Computer Interaction</a:t>
            </a:r>
            <a:endParaRPr lang="en-US" sz="1000" dirty="0">
              <a:solidFill>
                <a:schemeClr val="bg1"/>
              </a:solidFill>
            </a:endParaRPr>
          </a:p>
        </p:txBody>
      </p:sp>
      <p:sp>
        <p:nvSpPr>
          <p:cNvPr id="23" name="Shape 4">
            <a:extLst>
              <a:ext uri="{FF2B5EF4-FFF2-40B4-BE49-F238E27FC236}">
                <a16:creationId xmlns:a16="http://schemas.microsoft.com/office/drawing/2014/main" id="{53E62A25-8A0F-CBA6-F5CB-98ACEFB852A3}"/>
              </a:ext>
            </a:extLst>
          </p:cNvPr>
          <p:cNvSpPr/>
          <p:nvPr/>
        </p:nvSpPr>
        <p:spPr>
          <a:xfrm>
            <a:off x="8805672" y="502920"/>
            <a:ext cx="2834640" cy="384048"/>
          </a:xfrm>
          <a:prstGeom prst="roundRect">
            <a:avLst>
              <a:gd name="adj" fmla="val 19048"/>
            </a:avLst>
          </a:prstGeom>
          <a:solidFill>
            <a:srgbClr val="F4F7F9"/>
          </a:solidFill>
          <a:ln w="12700">
            <a:solidFill>
              <a:srgbClr val="E1E7EB"/>
            </a:solidFill>
            <a:prstDash val="solid"/>
          </a:ln>
        </p:spPr>
        <p:txBody>
          <a:bodyPr/>
          <a:lstStyle/>
          <a:p>
            <a:endParaRPr lang="en-US"/>
          </a:p>
        </p:txBody>
      </p:sp>
      <p:sp>
        <p:nvSpPr>
          <p:cNvPr id="24" name="Text 5">
            <a:extLst>
              <a:ext uri="{FF2B5EF4-FFF2-40B4-BE49-F238E27FC236}">
                <a16:creationId xmlns:a16="http://schemas.microsoft.com/office/drawing/2014/main" id="{3FFE88A2-8CFC-B8CD-6A21-2F1AEDFEB35D}"/>
              </a:ext>
            </a:extLst>
          </p:cNvPr>
          <p:cNvSpPr/>
          <p:nvPr/>
        </p:nvSpPr>
        <p:spPr>
          <a:xfrm>
            <a:off x="8942832" y="502920"/>
            <a:ext cx="2606040" cy="384048"/>
          </a:xfrm>
          <a:prstGeom prst="rect">
            <a:avLst/>
          </a:prstGeom>
          <a:noFill/>
          <a:ln/>
        </p:spPr>
        <p:txBody>
          <a:bodyPr wrap="square" rtlCol="0" anchor="ctr"/>
          <a:lstStyle/>
          <a:p>
            <a:pPr marL="0" indent="0">
              <a:buNone/>
            </a:pPr>
            <a:r>
              <a:rPr lang="en-US" sz="1100" b="1" dirty="0">
                <a:solidFill>
                  <a:srgbClr val="21295C"/>
                </a:solidFill>
                <a:latin typeface="Calibri" pitchFamily="34" charset="0"/>
                <a:ea typeface="Calibri" pitchFamily="34" charset="-122"/>
                <a:cs typeface="Calibri" pitchFamily="34" charset="-120"/>
              </a:rPr>
              <a:t>Presented by:  </a:t>
            </a:r>
            <a:r>
              <a:rPr lang="en-US" sz="1100" i="1" dirty="0">
                <a:solidFill>
                  <a:srgbClr val="5B6570"/>
                </a:solidFill>
                <a:latin typeface="Calibri" pitchFamily="34" charset="0"/>
                <a:ea typeface="Calibri" pitchFamily="34" charset="-122"/>
                <a:cs typeface="Calibri" pitchFamily="34" charset="-120"/>
              </a:rPr>
              <a:t>2023/ICTS/44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TotalTime>
  <Words>1144</Words>
  <Application>Microsoft Office PowerPoint</Application>
  <PresentationFormat>Widescreen</PresentationFormat>
  <Paragraphs>159</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Harindu Erandaka</cp:lastModifiedBy>
  <cp:revision>6</cp:revision>
  <dcterms:created xsi:type="dcterms:W3CDTF">2026-08-11T17:46:18Z</dcterms:created>
  <dcterms:modified xsi:type="dcterms:W3CDTF">2026-08-15T00:08:28Z</dcterms:modified>
</cp:coreProperties>
</file>